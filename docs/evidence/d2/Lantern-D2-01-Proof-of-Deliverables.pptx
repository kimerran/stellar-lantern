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058400" cy="365760"/>
          </a:xfrm>
          <a:prstGeom prst="rect">
            <a:avLst/>
          </a:prstGeom>
          <a:noFill/>
        </p:spPr>
        <p:txBody>
          <a:bodyPr wrap="square" lIns="0" rIns="0" tIns="0" bIns="0">
            <a:spAutoFit/>
          </a:bodyPr>
          <a:lstStyle/>
          <a:p>
            <a:pPr algn="l">
              <a:lnSpc>
                <a:spcPct val="115000"/>
              </a:lnSpc>
              <a:spcAft>
                <a:spcPts val="600"/>
              </a:spcAft>
            </a:pPr>
            <a:r>
              <a:rPr sz="1300" b="1">
                <a:solidFill>
                  <a:srgbClr val="FFC107"/>
                </a:solidFill>
                <a:latin typeface="Segoe UI"/>
              </a:rPr>
              <a:t>INSTAWARDS · WEEK 2 · EVIDENCE PACK 1 OF 2</a:t>
            </a:r>
          </a:p>
        </p:txBody>
      </p:sp>
      <p:sp>
        <p:nvSpPr>
          <p:cNvPr id="5" name="TextBox 4"/>
          <p:cNvSpPr txBox="1"/>
          <p:nvPr/>
        </p:nvSpPr>
        <p:spPr>
          <a:xfrm>
            <a:off x="1005840" y="2286000"/>
            <a:ext cx="10058400" cy="1005840"/>
          </a:xfrm>
          <a:prstGeom prst="rect">
            <a:avLst/>
          </a:prstGeom>
          <a:noFill/>
        </p:spPr>
        <p:txBody>
          <a:bodyPr wrap="square" lIns="0" rIns="0" tIns="0" bIns="0">
            <a:spAutoFit/>
          </a:bodyPr>
          <a:lstStyle/>
          <a:p>
            <a:pPr algn="l">
              <a:lnSpc>
                <a:spcPct val="115000"/>
              </a:lnSpc>
              <a:spcAft>
                <a:spcPts val="600"/>
              </a:spcAft>
            </a:pPr>
            <a:r>
              <a:rPr sz="4600" b="1">
                <a:solidFill>
                  <a:srgbClr val="E8EAF2"/>
                </a:solidFill>
                <a:latin typeface="Segoe UI"/>
              </a:rPr>
              <a:t>Lantern — Deliverable 2</a:t>
            </a:r>
          </a:p>
        </p:txBody>
      </p:sp>
      <p:sp>
        <p:nvSpPr>
          <p:cNvPr id="6" name="TextBox 5"/>
          <p:cNvSpPr txBox="1"/>
          <p:nvPr/>
        </p:nvSpPr>
        <p:spPr>
          <a:xfrm>
            <a:off x="1005840" y="3200400"/>
            <a:ext cx="10058400" cy="640080"/>
          </a:xfrm>
          <a:prstGeom prst="rect">
            <a:avLst/>
          </a:prstGeom>
          <a:noFill/>
        </p:spPr>
        <p:txBody>
          <a:bodyPr wrap="square" lIns="0" rIns="0" tIns="0" bIns="0">
            <a:spAutoFit/>
          </a:bodyPr>
          <a:lstStyle/>
          <a:p>
            <a:pPr algn="l">
              <a:lnSpc>
                <a:spcPct val="115000"/>
              </a:lnSpc>
              <a:spcAft>
                <a:spcPts val="600"/>
              </a:spcAft>
            </a:pPr>
            <a:r>
              <a:rPr sz="2400" b="0">
                <a:solidFill>
                  <a:srgbClr val="FFE4AF"/>
                </a:solidFill>
                <a:latin typeface="Segoe UI"/>
              </a:rPr>
              <a:t>Proof of Deliverables — Transaction Security Scanner</a:t>
            </a:r>
          </a:p>
        </p:txBody>
      </p:sp>
      <p:sp>
        <p:nvSpPr>
          <p:cNvPr id="7" name="Rectangle 6"/>
          <p:cNvSpPr/>
          <p:nvPr/>
        </p:nvSpPr>
        <p:spPr>
          <a:xfrm>
            <a:off x="1005840" y="4069080"/>
            <a:ext cx="2011680" cy="3200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389120"/>
            <a:ext cx="10058400" cy="1097280"/>
          </a:xfrm>
          <a:prstGeom prst="rect">
            <a:avLst/>
          </a:prstGeom>
          <a:noFill/>
        </p:spPr>
        <p:txBody>
          <a:bodyPr wrap="square" lIns="0" rIns="0" tIns="0" bIns="0">
            <a:spAutoFit/>
          </a:bodyPr>
          <a:lstStyle/>
          <a:p>
            <a:pPr algn="l">
              <a:lnSpc>
                <a:spcPct val="140000"/>
              </a:lnSpc>
              <a:spcAft>
                <a:spcPts val="600"/>
              </a:spcAft>
            </a:pPr>
            <a:r>
              <a:rPr sz="1400" b="0">
                <a:solidFill>
                  <a:srgbClr val="9AA4BF"/>
                </a:solidFill>
                <a:latin typeface="Segoe UI"/>
              </a:rPr>
              <a:t>Evidence captured from the scanner's command-line harness and the project's CI, on one named commit.</a:t>
            </a:r>
          </a:p>
          <a:p>
            <a:pPr algn="l">
              <a:lnSpc>
                <a:spcPct val="140000"/>
              </a:lnSpc>
              <a:spcAft>
                <a:spcPts val="600"/>
              </a:spcAft>
            </a:pPr>
            <a:r>
              <a:rPr sz="1400" b="0">
                <a:solidFill>
                  <a:srgbClr val="9AA4BF"/>
                </a:solidFill>
                <a:latin typeface="Segoe UI"/>
              </a:rPr>
              <a:t>Every artifact here is reproducible from the commands and links in evidence pack 2.</a:t>
            </a:r>
          </a:p>
        </p:txBody>
      </p:sp>
      <p:sp>
        <p:nvSpPr>
          <p:cNvPr id="9" name="TextBox 8"/>
          <p:cNvSpPr txBox="1"/>
          <p:nvPr/>
        </p:nvSpPr>
        <p:spPr>
          <a:xfrm>
            <a:off x="1005840" y="5760720"/>
            <a:ext cx="10058400" cy="548640"/>
          </a:xfrm>
          <a:prstGeom prst="rect">
            <a:avLst/>
          </a:prstGeom>
          <a:noFill/>
        </p:spPr>
        <p:txBody>
          <a:bodyPr wrap="square" lIns="0" rIns="0" tIns="0" bIns="0">
            <a:spAutoFit/>
          </a:bodyPr>
          <a:lstStyle/>
          <a:p>
            <a:pPr algn="l">
              <a:lnSpc>
                <a:spcPct val="115000"/>
              </a:lnSpc>
              <a:spcAft>
                <a:spcPts val="600"/>
              </a:spcAft>
            </a:pPr>
            <a:r>
              <a:rPr sz="1200" b="0">
                <a:solidFill>
                  <a:srgbClr val="E8EAF2"/>
                </a:solidFill>
                <a:latin typeface="Segoe UI"/>
              </a:rPr>
              <a:t>Reporting period: 2026-09-12 → 2026-09-18   ·   Network: Stellar Testnet   ·   Status: delivered</a:t>
            </a:r>
          </a:p>
        </p:txBody>
      </p:sp>
      <p:sp>
        <p:nvSpPr>
          <p:cNvPr id="10" name="TextBox 9"/>
          <p:cNvSpPr txBox="1"/>
          <p:nvPr/>
        </p:nvSpPr>
        <p:spPr>
          <a:xfrm>
            <a:off x="731520" y="6355080"/>
            <a:ext cx="8229600" cy="274320"/>
          </a:xfrm>
          <a:prstGeom prst="rect">
            <a:avLst/>
          </a:prstGeom>
          <a:noFill/>
        </p:spPr>
        <p:txBody>
          <a:bodyPr wrap="square" lIns="0" rIns="0" tIns="0" bIns="0">
            <a:spAutoFit/>
          </a:bodyPr>
          <a:lstStyle/>
          <a:p>
            <a:pPr algn="l">
              <a:lnSpc>
                <a:spcPct val="115000"/>
              </a:lnSpc>
              <a:spcAft>
                <a:spcPts val="600"/>
              </a:spcAft>
            </a:pPr>
            <a:r>
              <a:rPr sz="950" b="0">
                <a:solidFill>
                  <a:srgbClr val="9AA4BF"/>
                </a:solidFill>
                <a:latin typeface="Segoe UI"/>
              </a:rPr>
              <a:t>Lantern · Instawards Deliverable 2</a:t>
            </a:r>
          </a:p>
        </p:txBody>
      </p:sp>
      <p:sp>
        <p:nvSpPr>
          <p:cNvPr id="11" name="TextBox 10"/>
          <p:cNvSpPr txBox="1"/>
          <p:nvPr/>
        </p:nvSpPr>
        <p:spPr>
          <a:xfrm>
            <a:off x="10424160" y="6355080"/>
            <a:ext cx="1005840" cy="274320"/>
          </a:xfrm>
          <a:prstGeom prst="rect">
            <a:avLst/>
          </a:prstGeom>
          <a:noFill/>
        </p:spPr>
        <p:txBody>
          <a:bodyPr wrap="square" lIns="0" rIns="0" tIns="0" bIns="0">
            <a:spAutoFit/>
          </a:bodyPr>
          <a:lstStyle/>
          <a:p>
            <a:pPr algn="r">
              <a:lnSpc>
                <a:spcPct val="115000"/>
              </a:lnSpc>
              <a:spcAft>
                <a:spcPts val="600"/>
              </a:spcAft>
            </a:pPr>
            <a:r>
              <a:rPr sz="950" b="0">
                <a:solidFill>
                  <a:srgbClr val="9AA4BF"/>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74320"/>
          </a:xfrm>
          <a:prstGeom prst="rect">
            <a:avLst/>
          </a:prstGeom>
          <a:noFill/>
        </p:spPr>
        <p:txBody>
          <a:bodyPr wrap="square" lIns="0" rIns="0" tIns="0" bIns="0">
            <a:spAutoFit/>
          </a:bodyPr>
          <a:lstStyle/>
          <a:p>
            <a:pPr algn="l">
              <a:lnSpc>
                <a:spcPct val="115000"/>
              </a:lnSpc>
              <a:spcAft>
                <a:spcPts val="600"/>
              </a:spcAft>
            </a:pPr>
            <a:r>
              <a:rPr sz="1150" b="1">
                <a:solidFill>
                  <a:srgbClr val="FFC107"/>
                </a:solidFill>
                <a:latin typeface="Segoe UI"/>
              </a:rPr>
              <a:t>EXECUTIVE SUMMARY</a:t>
            </a:r>
          </a:p>
        </p:txBody>
      </p:sp>
      <p:sp>
        <p:nvSpPr>
          <p:cNvPr id="4" name="TextBox 3"/>
          <p:cNvSpPr txBox="1"/>
          <p:nvPr/>
        </p:nvSpPr>
        <p:spPr>
          <a:xfrm>
            <a:off x="731520" y="786384"/>
            <a:ext cx="10698480" cy="640080"/>
          </a:xfrm>
          <a:prstGeom prst="rect">
            <a:avLst/>
          </a:prstGeom>
          <a:noFill/>
        </p:spPr>
        <p:txBody>
          <a:bodyPr wrap="square" lIns="0" rIns="0" tIns="0" bIns="0">
            <a:spAutoFit/>
          </a:bodyPr>
          <a:lstStyle/>
          <a:p>
            <a:pPr algn="l">
              <a:lnSpc>
                <a:spcPct val="115000"/>
              </a:lnSpc>
              <a:spcAft>
                <a:spcPts val="600"/>
              </a:spcAft>
            </a:pPr>
            <a:r>
              <a:rPr sz="3000" b="1">
                <a:solidFill>
                  <a:srgbClr val="E8EAF2"/>
                </a:solidFill>
                <a:latin typeface="Segoe UI"/>
              </a:rPr>
              <a:t>What shipped this week</a:t>
            </a:r>
          </a:p>
        </p:txBody>
      </p:sp>
      <p:sp>
        <p:nvSpPr>
          <p:cNvPr id="5" name="Rectangle 4"/>
          <p:cNvSpPr/>
          <p:nvPr/>
        </p:nvSpPr>
        <p:spPr>
          <a:xfrm>
            <a:off x="731520" y="1481328"/>
            <a:ext cx="1280160" cy="3200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2651760" cy="205740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29968"/>
            <a:ext cx="2194560" cy="228600"/>
          </a:xfrm>
          <a:prstGeom prst="rect">
            <a:avLst/>
          </a:prstGeom>
          <a:noFill/>
        </p:spPr>
        <p:txBody>
          <a:bodyPr wrap="square" lIns="0" rIns="0" tIns="0" bIns="0">
            <a:spAutoFit/>
          </a:bodyPr>
          <a:lstStyle/>
          <a:p>
            <a:pPr algn="l">
              <a:lnSpc>
                <a:spcPct val="115000"/>
              </a:lnSpc>
              <a:spcAft>
                <a:spcPts val="600"/>
              </a:spcAft>
            </a:pPr>
            <a:r>
              <a:rPr sz="950" b="1">
                <a:solidFill>
                  <a:srgbClr val="FFC107"/>
                </a:solidFill>
                <a:latin typeface="Segoe UI"/>
              </a:rPr>
              <a:t>PIPELINE</a:t>
            </a:r>
          </a:p>
        </p:txBody>
      </p:sp>
      <p:sp>
        <p:nvSpPr>
          <p:cNvPr id="8" name="TextBox 7"/>
          <p:cNvSpPr txBox="1"/>
          <p:nvPr/>
        </p:nvSpPr>
        <p:spPr>
          <a:xfrm>
            <a:off x="960120" y="2304288"/>
            <a:ext cx="2240280" cy="457200"/>
          </a:xfrm>
          <a:prstGeom prst="rect">
            <a:avLst/>
          </a:prstGeom>
          <a:noFill/>
        </p:spPr>
        <p:txBody>
          <a:bodyPr wrap="square" lIns="0" rIns="0" tIns="0" bIns="0">
            <a:spAutoFit/>
          </a:bodyPr>
          <a:lstStyle/>
          <a:p>
            <a:pPr algn="l">
              <a:lnSpc>
                <a:spcPct val="115000"/>
              </a:lnSpc>
              <a:spcAft>
                <a:spcPts val="600"/>
              </a:spcAft>
            </a:pPr>
            <a:r>
              <a:rPr sz="1450" b="1">
                <a:solidFill>
                  <a:srgbClr val="E8EAF2"/>
                </a:solidFill>
                <a:latin typeface="Segoe UI"/>
              </a:rPr>
              <a:t>Six stages, deterministic</a:t>
            </a:r>
          </a:p>
        </p:txBody>
      </p:sp>
      <p:sp>
        <p:nvSpPr>
          <p:cNvPr id="9" name="TextBox 8"/>
          <p:cNvSpPr txBox="1"/>
          <p:nvPr/>
        </p:nvSpPr>
        <p:spPr>
          <a:xfrm>
            <a:off x="960120" y="2852928"/>
            <a:ext cx="2240280" cy="914400"/>
          </a:xfrm>
          <a:prstGeom prst="rect">
            <a:avLst/>
          </a:prstGeom>
          <a:noFill/>
        </p:spPr>
        <p:txBody>
          <a:bodyPr wrap="square" lIns="0" rIns="0" tIns="0" bIns="0">
            <a:spAutoFit/>
          </a:bodyPr>
          <a:lstStyle/>
          <a:p>
            <a:pPr algn="l">
              <a:lnSpc>
                <a:spcPct val="130000"/>
              </a:lnSpc>
              <a:spcAft>
                <a:spcPts val="600"/>
              </a:spcAft>
            </a:pPr>
            <a:r>
              <a:rPr sz="1000" b="0">
                <a:solidFill>
                  <a:srgbClr val="9AA4BF"/>
                </a:solidFill>
                <a:latin typeface="Segoe UI"/>
              </a:rPr>
              <a:t>Simulate, walk the auth tree, decode effects, screen, decide, explain — as an MIT package the wallet, a dApp or a CLI can call.</a:t>
            </a:r>
          </a:p>
        </p:txBody>
      </p:sp>
      <p:sp>
        <p:nvSpPr>
          <p:cNvPr id="10" name="Rounded Rectangle 9"/>
          <p:cNvSpPr/>
          <p:nvPr/>
        </p:nvSpPr>
        <p:spPr>
          <a:xfrm>
            <a:off x="3520440" y="1828800"/>
            <a:ext cx="2651760" cy="205740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0" y="2029968"/>
            <a:ext cx="2194560" cy="228600"/>
          </a:xfrm>
          <a:prstGeom prst="rect">
            <a:avLst/>
          </a:prstGeom>
          <a:noFill/>
        </p:spPr>
        <p:txBody>
          <a:bodyPr wrap="square" lIns="0" rIns="0" tIns="0" bIns="0">
            <a:spAutoFit/>
          </a:bodyPr>
          <a:lstStyle/>
          <a:p>
            <a:pPr algn="l">
              <a:lnSpc>
                <a:spcPct val="115000"/>
              </a:lnSpc>
              <a:spcAft>
                <a:spcPts val="600"/>
              </a:spcAft>
            </a:pPr>
            <a:r>
              <a:rPr sz="950" b="1">
                <a:solidFill>
                  <a:srgbClr val="FFC107"/>
                </a:solidFill>
                <a:latin typeface="Segoe UI"/>
              </a:rPr>
              <a:t>EFFECTS</a:t>
            </a:r>
          </a:p>
        </p:txBody>
      </p:sp>
      <p:sp>
        <p:nvSpPr>
          <p:cNvPr id="12" name="TextBox 11"/>
          <p:cNvSpPr txBox="1"/>
          <p:nvPr/>
        </p:nvSpPr>
        <p:spPr>
          <a:xfrm>
            <a:off x="3749040" y="2304288"/>
            <a:ext cx="2240280" cy="457200"/>
          </a:xfrm>
          <a:prstGeom prst="rect">
            <a:avLst/>
          </a:prstGeom>
          <a:noFill/>
        </p:spPr>
        <p:txBody>
          <a:bodyPr wrap="square" lIns="0" rIns="0" tIns="0" bIns="0">
            <a:spAutoFit/>
          </a:bodyPr>
          <a:lstStyle/>
          <a:p>
            <a:pPr algn="l">
              <a:lnSpc>
                <a:spcPct val="115000"/>
              </a:lnSpc>
              <a:spcAft>
                <a:spcPts val="600"/>
              </a:spcAft>
            </a:pPr>
            <a:r>
              <a:rPr sz="1450" b="1">
                <a:solidFill>
                  <a:srgbClr val="E8EAF2"/>
                </a:solidFill>
                <a:latin typeface="Segoe UI"/>
              </a:rPr>
              <a:t>Payments + token calls</a:t>
            </a:r>
          </a:p>
        </p:txBody>
      </p:sp>
      <p:sp>
        <p:nvSpPr>
          <p:cNvPr id="13" name="TextBox 12"/>
          <p:cNvSpPr txBox="1"/>
          <p:nvPr/>
        </p:nvSpPr>
        <p:spPr>
          <a:xfrm>
            <a:off x="3749040" y="2852928"/>
            <a:ext cx="2240280" cy="914400"/>
          </a:xfrm>
          <a:prstGeom prst="rect">
            <a:avLst/>
          </a:prstGeom>
          <a:noFill/>
        </p:spPr>
        <p:txBody>
          <a:bodyPr wrap="square" lIns="0" rIns="0" tIns="0" bIns="0">
            <a:spAutoFit/>
          </a:bodyPr>
          <a:lstStyle/>
          <a:p>
            <a:pPr algn="l">
              <a:lnSpc>
                <a:spcPct val="130000"/>
              </a:lnSpc>
              <a:spcAft>
                <a:spcPts val="600"/>
              </a:spcAft>
            </a:pPr>
            <a:r>
              <a:rPr sz="1000" b="0">
                <a:solidFill>
                  <a:srgbClr val="9AA4BF"/>
                </a:solidFill>
                <a:latin typeface="Segoe UI"/>
              </a:rPr>
              <a:t>Path payments, merges, SEP-41 / SAC transfer, approve, burn, mint, clawback; nested calls surfaced; unknown contracts labelled, never guessed.</a:t>
            </a:r>
          </a:p>
        </p:txBody>
      </p:sp>
      <p:sp>
        <p:nvSpPr>
          <p:cNvPr id="14" name="Rounded Rectangle 13"/>
          <p:cNvSpPr/>
          <p:nvPr/>
        </p:nvSpPr>
        <p:spPr>
          <a:xfrm>
            <a:off x="6309360" y="1828800"/>
            <a:ext cx="2651760" cy="205740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2029968"/>
            <a:ext cx="2194560" cy="228600"/>
          </a:xfrm>
          <a:prstGeom prst="rect">
            <a:avLst/>
          </a:prstGeom>
          <a:noFill/>
        </p:spPr>
        <p:txBody>
          <a:bodyPr wrap="square" lIns="0" rIns="0" tIns="0" bIns="0">
            <a:spAutoFit/>
          </a:bodyPr>
          <a:lstStyle/>
          <a:p>
            <a:pPr algn="l">
              <a:lnSpc>
                <a:spcPct val="115000"/>
              </a:lnSpc>
              <a:spcAft>
                <a:spcPts val="600"/>
              </a:spcAft>
            </a:pPr>
            <a:r>
              <a:rPr sz="950" b="1">
                <a:solidFill>
                  <a:srgbClr val="FFC107"/>
                </a:solidFill>
                <a:latin typeface="Segoe UI"/>
              </a:rPr>
              <a:t>SCREENING</a:t>
            </a:r>
          </a:p>
        </p:txBody>
      </p:sp>
      <p:sp>
        <p:nvSpPr>
          <p:cNvPr id="16" name="TextBox 15"/>
          <p:cNvSpPr txBox="1"/>
          <p:nvPr/>
        </p:nvSpPr>
        <p:spPr>
          <a:xfrm>
            <a:off x="6537960" y="2304288"/>
            <a:ext cx="2240280" cy="457200"/>
          </a:xfrm>
          <a:prstGeom prst="rect">
            <a:avLst/>
          </a:prstGeom>
          <a:noFill/>
        </p:spPr>
        <p:txBody>
          <a:bodyPr wrap="square" lIns="0" rIns="0" tIns="0" bIns="0">
            <a:spAutoFit/>
          </a:bodyPr>
          <a:lstStyle/>
          <a:p>
            <a:pPr algn="l">
              <a:lnSpc>
                <a:spcPct val="115000"/>
              </a:lnSpc>
              <a:spcAft>
                <a:spcPts val="600"/>
              </a:spcAft>
            </a:pPr>
            <a:r>
              <a:rPr sz="1450" b="1">
                <a:solidFill>
                  <a:srgbClr val="E8EAF2"/>
                </a:solidFill>
                <a:latin typeface="Segoe UI"/>
              </a:rPr>
              <a:t>Every counterparty, D1 registry</a:t>
            </a:r>
          </a:p>
        </p:txBody>
      </p:sp>
      <p:sp>
        <p:nvSpPr>
          <p:cNvPr id="17" name="TextBox 16"/>
          <p:cNvSpPr txBox="1"/>
          <p:nvPr/>
        </p:nvSpPr>
        <p:spPr>
          <a:xfrm>
            <a:off x="6537960" y="2852928"/>
            <a:ext cx="2240280" cy="914400"/>
          </a:xfrm>
          <a:prstGeom prst="rect">
            <a:avLst/>
          </a:prstGeom>
          <a:noFill/>
        </p:spPr>
        <p:txBody>
          <a:bodyPr wrap="square" lIns="0" rIns="0" tIns="0" bIns="0">
            <a:spAutoFit/>
          </a:bodyPr>
          <a:lstStyle/>
          <a:p>
            <a:pPr algn="l">
              <a:lnSpc>
                <a:spcPct val="130000"/>
              </a:lnSpc>
              <a:spcAft>
                <a:spcPts val="600"/>
              </a:spcAft>
            </a:pPr>
            <a:r>
              <a:rPr sz="1000" b="0">
                <a:solidFill>
                  <a:srgbClr val="9AA4BF"/>
                </a:solidFill>
                <a:latin typeface="Segoe UI"/>
              </a:rPr>
              <a:t>Three outcomes — flagged, clean, unknown. Unreachable is unknown, never clean; a hit carries the reason and report count.</a:t>
            </a:r>
          </a:p>
        </p:txBody>
      </p:sp>
      <p:sp>
        <p:nvSpPr>
          <p:cNvPr id="18" name="Rounded Rectangle 17"/>
          <p:cNvSpPr/>
          <p:nvPr/>
        </p:nvSpPr>
        <p:spPr>
          <a:xfrm>
            <a:off x="9098280" y="1828800"/>
            <a:ext cx="2651760" cy="205740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2029968"/>
            <a:ext cx="2194560" cy="228600"/>
          </a:xfrm>
          <a:prstGeom prst="rect">
            <a:avLst/>
          </a:prstGeom>
          <a:noFill/>
        </p:spPr>
        <p:txBody>
          <a:bodyPr wrap="square" lIns="0" rIns="0" tIns="0" bIns="0">
            <a:spAutoFit/>
          </a:bodyPr>
          <a:lstStyle/>
          <a:p>
            <a:pPr algn="l">
              <a:lnSpc>
                <a:spcPct val="115000"/>
              </a:lnSpc>
              <a:spcAft>
                <a:spcPts val="600"/>
              </a:spcAft>
            </a:pPr>
            <a:r>
              <a:rPr sz="950" b="1">
                <a:solidFill>
                  <a:srgbClr val="FFC107"/>
                </a:solidFill>
                <a:latin typeface="Segoe UI"/>
              </a:rPr>
              <a:t>VERDICT</a:t>
            </a:r>
          </a:p>
        </p:txBody>
      </p:sp>
      <p:sp>
        <p:nvSpPr>
          <p:cNvPr id="20" name="TextBox 19"/>
          <p:cNvSpPr txBox="1"/>
          <p:nvPr/>
        </p:nvSpPr>
        <p:spPr>
          <a:xfrm>
            <a:off x="9326880" y="2304288"/>
            <a:ext cx="2240280" cy="457200"/>
          </a:xfrm>
          <a:prstGeom prst="rect">
            <a:avLst/>
          </a:prstGeom>
          <a:noFill/>
        </p:spPr>
        <p:txBody>
          <a:bodyPr wrap="square" lIns="0" rIns="0" tIns="0" bIns="0">
            <a:spAutoFit/>
          </a:bodyPr>
          <a:lstStyle/>
          <a:p>
            <a:pPr algn="l">
              <a:lnSpc>
                <a:spcPct val="115000"/>
              </a:lnSpc>
              <a:spcAft>
                <a:spcPts val="600"/>
              </a:spcAft>
            </a:pPr>
            <a:r>
              <a:rPr sz="1450" b="1">
                <a:solidFill>
                  <a:srgbClr val="E8EAF2"/>
                </a:solidFill>
                <a:latin typeface="Segoe UI"/>
              </a:rPr>
              <a:t>Rules decide, the AI writes</a:t>
            </a:r>
          </a:p>
        </p:txBody>
      </p:sp>
      <p:sp>
        <p:nvSpPr>
          <p:cNvPr id="21" name="TextBox 20"/>
          <p:cNvSpPr txBox="1"/>
          <p:nvPr/>
        </p:nvSpPr>
        <p:spPr>
          <a:xfrm>
            <a:off x="9326880" y="2852928"/>
            <a:ext cx="2240280" cy="914400"/>
          </a:xfrm>
          <a:prstGeom prst="rect">
            <a:avLst/>
          </a:prstGeom>
          <a:noFill/>
        </p:spPr>
        <p:txBody>
          <a:bodyPr wrap="square" lIns="0" rIns="0" tIns="0" bIns="0">
            <a:spAutoFit/>
          </a:bodyPr>
          <a:lstStyle/>
          <a:p>
            <a:pPr algn="l">
              <a:lnSpc>
                <a:spcPct val="130000"/>
              </a:lnSpc>
              <a:spcAft>
                <a:spcPts val="600"/>
              </a:spcAft>
            </a:pPr>
            <a:r>
              <a:rPr sz="1000" b="0">
                <a:solidFill>
                  <a:srgbClr val="9AA4BF"/>
                </a:solidFill>
                <a:latin typeface="Segoe UI"/>
              </a:rPr>
              <a:t>Risk and action come from deterministic code. The model gets structured facts only, a deadline, and cannot change the verdict.</a:t>
            </a:r>
          </a:p>
        </p:txBody>
      </p:sp>
      <p:sp>
        <p:nvSpPr>
          <p:cNvPr id="22" name="Rounded Rectangle 21"/>
          <p:cNvSpPr/>
          <p:nvPr/>
        </p:nvSpPr>
        <p:spPr>
          <a:xfrm>
            <a:off x="731520" y="4160520"/>
            <a:ext cx="10716768" cy="1783080"/>
          </a:xfrm>
          <a:prstGeom prst="roundRect">
            <a:avLst>
              <a:gd name="adj" fmla="val 4000"/>
            </a:avLst>
          </a:prstGeom>
          <a:solidFill>
            <a:srgbClr val="22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389120"/>
            <a:ext cx="10149840" cy="274320"/>
          </a:xfrm>
          <a:prstGeom prst="rect">
            <a:avLst/>
          </a:prstGeom>
          <a:noFill/>
        </p:spPr>
        <p:txBody>
          <a:bodyPr wrap="square" lIns="0" rIns="0" tIns="0" bIns="0">
            <a:spAutoFit/>
          </a:bodyPr>
          <a:lstStyle/>
          <a:p>
            <a:pPr algn="l">
              <a:lnSpc>
                <a:spcPct val="115000"/>
              </a:lnSpc>
              <a:spcAft>
                <a:spcPts val="600"/>
              </a:spcAft>
            </a:pPr>
            <a:r>
              <a:rPr sz="950" b="1">
                <a:solidFill>
                  <a:srgbClr val="FFC107"/>
                </a:solidFill>
                <a:latin typeface="Segoe UI"/>
              </a:rPr>
              <a:t>SCOPE COMPLETED</a:t>
            </a:r>
          </a:p>
        </p:txBody>
      </p:sp>
      <p:sp>
        <p:nvSpPr>
          <p:cNvPr id="24" name="TextBox 23"/>
          <p:cNvSpPr txBox="1"/>
          <p:nvPr/>
        </p:nvSpPr>
        <p:spPr>
          <a:xfrm>
            <a:off x="1005840" y="4681728"/>
            <a:ext cx="4937760" cy="1188720"/>
          </a:xfrm>
          <a:prstGeom prst="rect">
            <a:avLst/>
          </a:prstGeom>
          <a:noFill/>
        </p:spPr>
        <p:txBody>
          <a:bodyPr wrap="square" lIns="0" rIns="0" tIns="0" bIns="0">
            <a:spAutoFit/>
          </a:bodyPr>
          <a:lstStyle/>
          <a:p>
            <a:pPr algn="l">
              <a:lnSpc>
                <a:spcPct val="135000"/>
              </a:lnSpc>
              <a:spcAft>
                <a:spcPts val="600"/>
              </a:spcAft>
            </a:pPr>
            <a:r>
              <a:rPr sz="1200" b="0">
                <a:solidFill>
                  <a:srgbClr val="E8EAF2"/>
                </a:solidFill>
                <a:latin typeface="Segoe UI"/>
              </a:rPr>
              <a:t>12 of 12 planned slices delivered and merged — 31 points</a:t>
            </a:r>
          </a:p>
          <a:p>
            <a:pPr algn="l">
              <a:lnSpc>
                <a:spcPct val="135000"/>
              </a:lnSpc>
              <a:spcAft>
                <a:spcPts val="600"/>
              </a:spcAft>
            </a:pPr>
            <a:r>
              <a:rPr sz="1200" b="0">
                <a:solidFill>
                  <a:srgbClr val="E8EAF2"/>
                </a:solidFill>
                <a:latin typeface="Segoe UI"/>
              </a:rPr>
              <a:t>MIT package · pipeline + invariant · ingest · auth · effects ×3</a:t>
            </a:r>
          </a:p>
          <a:p>
            <a:pPr algn="l">
              <a:lnSpc>
                <a:spcPct val="135000"/>
              </a:lnSpc>
              <a:spcAft>
                <a:spcPts val="600"/>
              </a:spcAft>
            </a:pPr>
            <a:r>
              <a:rPr sz="1200" b="0">
                <a:solidFill>
                  <a:srgbClr val="E8EAF2"/>
                </a:solidFill>
                <a:latin typeface="Segoe UI"/>
              </a:rPr>
              <a:t>screen · verdict · explain · QA plan + CLI harness · demo runbook</a:t>
            </a:r>
          </a:p>
        </p:txBody>
      </p:sp>
      <p:sp>
        <p:nvSpPr>
          <p:cNvPr id="25" name="TextBox 24"/>
          <p:cNvSpPr txBox="1"/>
          <p:nvPr/>
        </p:nvSpPr>
        <p:spPr>
          <a:xfrm>
            <a:off x="6309360" y="4681728"/>
            <a:ext cx="4846320" cy="1188720"/>
          </a:xfrm>
          <a:prstGeom prst="rect">
            <a:avLst/>
          </a:prstGeom>
          <a:noFill/>
        </p:spPr>
        <p:txBody>
          <a:bodyPr wrap="square" lIns="0" rIns="0" tIns="0" bIns="0">
            <a:spAutoFit/>
          </a:bodyPr>
          <a:lstStyle/>
          <a:p>
            <a:pPr algn="l">
              <a:lnSpc>
                <a:spcPct val="135000"/>
              </a:lnSpc>
              <a:spcAft>
                <a:spcPts val="600"/>
              </a:spcAft>
            </a:pPr>
            <a:r>
              <a:rPr sz="1200" b="0">
                <a:solidFill>
                  <a:srgbClr val="E8EAF2"/>
                </a:solidFill>
                <a:latin typeface="Segoe UI"/>
              </a:rPr>
              <a:t>Every merge reviewed and gated on human approval</a:t>
            </a:r>
          </a:p>
          <a:p>
            <a:pPr algn="l">
              <a:lnSpc>
                <a:spcPct val="135000"/>
              </a:lnSpc>
              <a:spcAft>
                <a:spcPts val="600"/>
              </a:spcAft>
            </a:pPr>
            <a:r>
              <a:rPr sz="1200" b="0">
                <a:solidFill>
                  <a:srgbClr val="E8EAF2"/>
                </a:solidFill>
                <a:latin typeface="Segoe UI"/>
              </a:rPr>
              <a:t>748 tests green offline in CI — no RPC, no registry,</a:t>
            </a:r>
          </a:p>
          <a:p>
            <a:pPr algn="l">
              <a:lnSpc>
                <a:spcPct val="135000"/>
              </a:lnSpc>
              <a:spcAft>
                <a:spcPts val="600"/>
              </a:spcAft>
            </a:pPr>
            <a:r>
              <a:rPr sz="1200" b="0">
                <a:solidFill>
                  <a:srgbClr val="E8EAF2"/>
                </a:solidFill>
                <a:latin typeface="Segoe UI"/>
              </a:rPr>
              <a:t>no model reachable — plus a proxy so no key ships in a client</a:t>
            </a:r>
          </a:p>
        </p:txBody>
      </p:sp>
      <p:sp>
        <p:nvSpPr>
          <p:cNvPr id="26" name="TextBox 25"/>
          <p:cNvSpPr txBox="1"/>
          <p:nvPr/>
        </p:nvSpPr>
        <p:spPr>
          <a:xfrm>
            <a:off x="731520" y="6355080"/>
            <a:ext cx="8229600" cy="274320"/>
          </a:xfrm>
          <a:prstGeom prst="rect">
            <a:avLst/>
          </a:prstGeom>
          <a:noFill/>
        </p:spPr>
        <p:txBody>
          <a:bodyPr wrap="square" lIns="0" rIns="0" tIns="0" bIns="0">
            <a:spAutoFit/>
          </a:bodyPr>
          <a:lstStyle/>
          <a:p>
            <a:pPr algn="l">
              <a:lnSpc>
                <a:spcPct val="115000"/>
              </a:lnSpc>
              <a:spcAft>
                <a:spcPts val="600"/>
              </a:spcAft>
            </a:pPr>
            <a:r>
              <a:rPr sz="950" b="0">
                <a:solidFill>
                  <a:srgbClr val="9AA4BF"/>
                </a:solidFill>
                <a:latin typeface="Segoe UI"/>
              </a:rPr>
              <a:t>Lantern · Instawards Deliverable 2</a:t>
            </a:r>
          </a:p>
        </p:txBody>
      </p:sp>
      <p:sp>
        <p:nvSpPr>
          <p:cNvPr id="27" name="TextBox 26"/>
          <p:cNvSpPr txBox="1"/>
          <p:nvPr/>
        </p:nvSpPr>
        <p:spPr>
          <a:xfrm>
            <a:off x="10424160" y="6355080"/>
            <a:ext cx="1005840" cy="274320"/>
          </a:xfrm>
          <a:prstGeom prst="rect">
            <a:avLst/>
          </a:prstGeom>
          <a:noFill/>
        </p:spPr>
        <p:txBody>
          <a:bodyPr wrap="square" lIns="0" rIns="0" tIns="0" bIns="0">
            <a:spAutoFit/>
          </a:bodyPr>
          <a:lstStyle/>
          <a:p>
            <a:pPr algn="r">
              <a:lnSpc>
                <a:spcPct val="115000"/>
              </a:lnSpc>
              <a:spcAft>
                <a:spcPts val="600"/>
              </a:spcAft>
            </a:pPr>
            <a:r>
              <a:rPr sz="950" b="0">
                <a:solidFill>
                  <a:srgbClr val="9AA4BF"/>
                </a:solidFill>
                <a:latin typeface="Segoe UI"/>
              </a:rPr>
              <a:t>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74320"/>
          </a:xfrm>
          <a:prstGeom prst="rect">
            <a:avLst/>
          </a:prstGeom>
          <a:noFill/>
        </p:spPr>
        <p:txBody>
          <a:bodyPr wrap="square" lIns="0" rIns="0" tIns="0" bIns="0">
            <a:spAutoFit/>
          </a:bodyPr>
          <a:lstStyle/>
          <a:p>
            <a:pPr algn="l">
              <a:lnSpc>
                <a:spcPct val="115000"/>
              </a:lnSpc>
              <a:spcAft>
                <a:spcPts val="600"/>
              </a:spcAft>
            </a:pPr>
            <a:r>
              <a:rPr sz="1150" b="1">
                <a:solidFill>
                  <a:srgbClr val="FFC107"/>
                </a:solidFill>
                <a:latin typeface="Segoe UI"/>
              </a:rPr>
              <a:t>PROOF · 1 OF 6</a:t>
            </a:r>
          </a:p>
        </p:txBody>
      </p:sp>
      <p:sp>
        <p:nvSpPr>
          <p:cNvPr id="4" name="TextBox 3"/>
          <p:cNvSpPr txBox="1"/>
          <p:nvPr/>
        </p:nvSpPr>
        <p:spPr>
          <a:xfrm>
            <a:off x="731520" y="786384"/>
            <a:ext cx="10698480" cy="640080"/>
          </a:xfrm>
          <a:prstGeom prst="rect">
            <a:avLst/>
          </a:prstGeom>
          <a:noFill/>
        </p:spPr>
        <p:txBody>
          <a:bodyPr wrap="square" lIns="0" rIns="0" tIns="0" bIns="0">
            <a:spAutoFit/>
          </a:bodyPr>
          <a:lstStyle/>
          <a:p>
            <a:pPr algn="l">
              <a:lnSpc>
                <a:spcPct val="115000"/>
              </a:lnSpc>
              <a:spcAft>
                <a:spcPts val="600"/>
              </a:spcAft>
            </a:pPr>
            <a:r>
              <a:rPr sz="3000" b="1">
                <a:solidFill>
                  <a:srgbClr val="E8EAF2"/>
                </a:solidFill>
                <a:latin typeface="Segoe UI"/>
              </a:rPr>
              <a:t>A payment, decoded</a:t>
            </a:r>
          </a:p>
        </p:txBody>
      </p:sp>
      <p:sp>
        <p:nvSpPr>
          <p:cNvPr id="5" name="Rectangle 4"/>
          <p:cNvSpPr/>
          <p:nvPr/>
        </p:nvSpPr>
        <p:spPr>
          <a:xfrm>
            <a:off x="731520" y="1481328"/>
            <a:ext cx="1280160" cy="3200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83080"/>
            <a:ext cx="685800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2_1_contract_page.png"/>
          <p:cNvPicPr>
            <a:picLocks noChangeAspect="1"/>
          </p:cNvPicPr>
          <p:nvPr/>
        </p:nvPicPr>
        <p:blipFill>
          <a:blip r:embed="rId3"/>
          <a:stretch>
            <a:fillRect/>
          </a:stretch>
        </p:blipFill>
        <p:spPr>
          <a:xfrm>
            <a:off x="1305763" y="1892808"/>
            <a:ext cx="5709513" cy="4078224"/>
          </a:xfrm>
          <a:prstGeom prst="rect">
            <a:avLst/>
          </a:prstGeom>
        </p:spPr>
      </p:pic>
      <p:sp>
        <p:nvSpPr>
          <p:cNvPr id="8" name="Rounded Rectangle 7"/>
          <p:cNvSpPr/>
          <p:nvPr/>
        </p:nvSpPr>
        <p:spPr>
          <a:xfrm>
            <a:off x="7818120" y="1783080"/>
            <a:ext cx="361188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4152" y="202082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FIXTURE</a:t>
            </a:r>
          </a:p>
        </p:txBody>
      </p:sp>
      <p:sp>
        <p:nvSpPr>
          <p:cNvPr id="10" name="TextBox 9"/>
          <p:cNvSpPr txBox="1"/>
          <p:nvPr/>
        </p:nvSpPr>
        <p:spPr>
          <a:xfrm>
            <a:off x="8074152" y="2221992"/>
            <a:ext cx="3108960" cy="402336"/>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classic-payment</a:t>
            </a:r>
          </a:p>
        </p:txBody>
      </p:sp>
      <p:sp>
        <p:nvSpPr>
          <p:cNvPr id="11" name="TextBox 10"/>
          <p:cNvSpPr txBox="1"/>
          <p:nvPr/>
        </p:nvSpPr>
        <p:spPr>
          <a:xfrm>
            <a:off x="8074152" y="275234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VERDICT</a:t>
            </a:r>
          </a:p>
        </p:txBody>
      </p:sp>
      <p:sp>
        <p:nvSpPr>
          <p:cNvPr id="12" name="TextBox 11"/>
          <p:cNvSpPr txBox="1"/>
          <p:nvPr/>
        </p:nvSpPr>
        <p:spPr>
          <a:xfrm>
            <a:off x="8074152" y="2953512"/>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LOW · ALLOW</a:t>
            </a:r>
          </a:p>
        </p:txBody>
      </p:sp>
      <p:sp>
        <p:nvSpPr>
          <p:cNvPr id="13" name="TextBox 12"/>
          <p:cNvSpPr txBox="1"/>
          <p:nvPr/>
        </p:nvSpPr>
        <p:spPr>
          <a:xfrm>
            <a:off x="8074152" y="3291840"/>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EFFECTS</a:t>
            </a:r>
          </a:p>
        </p:txBody>
      </p:sp>
      <p:sp>
        <p:nvSpPr>
          <p:cNvPr id="14" name="TextBox 13"/>
          <p:cNvSpPr txBox="1"/>
          <p:nvPr/>
        </p:nvSpPr>
        <p:spPr>
          <a:xfrm>
            <a:off x="8074152" y="3493008"/>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−25 XLM out, +25 XLM in</a:t>
            </a:r>
          </a:p>
        </p:txBody>
      </p:sp>
      <p:sp>
        <p:nvSpPr>
          <p:cNvPr id="15" name="TextBox 14"/>
          <p:cNvSpPr txBox="1"/>
          <p:nvPr/>
        </p:nvSpPr>
        <p:spPr>
          <a:xfrm>
            <a:off x="8074152" y="3831336"/>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SCREEN</a:t>
            </a:r>
          </a:p>
        </p:txBody>
      </p:sp>
      <p:sp>
        <p:nvSpPr>
          <p:cNvPr id="16" name="TextBox 15"/>
          <p:cNvSpPr txBox="1"/>
          <p:nvPr/>
        </p:nvSpPr>
        <p:spPr>
          <a:xfrm>
            <a:off x="8074152" y="4032504"/>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clean · 1 checked</a:t>
            </a:r>
          </a:p>
        </p:txBody>
      </p:sp>
      <p:sp>
        <p:nvSpPr>
          <p:cNvPr id="17" name="Rectangle 16"/>
          <p:cNvSpPr/>
          <p:nvPr/>
        </p:nvSpPr>
        <p:spPr>
          <a:xfrm>
            <a:off x="8074152" y="4425696"/>
            <a:ext cx="640080" cy="1828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74152" y="4572000"/>
            <a:ext cx="3108960" cy="1188720"/>
          </a:xfrm>
          <a:prstGeom prst="rect">
            <a:avLst/>
          </a:prstGeom>
          <a:noFill/>
        </p:spPr>
        <p:txBody>
          <a:bodyPr wrap="square" lIns="0" rIns="0" tIns="0" bIns="0">
            <a:spAutoFit/>
          </a:bodyPr>
          <a:lstStyle/>
          <a:p>
            <a:pPr algn="l">
              <a:lnSpc>
                <a:spcPct val="130000"/>
              </a:lnSpc>
              <a:spcAft>
                <a:spcPts val="600"/>
              </a:spcAft>
            </a:pPr>
            <a:r>
              <a:rPr sz="1000" b="0">
                <a:solidFill>
                  <a:srgbClr val="9AA4BF"/>
                </a:solidFill>
                <a:latin typeface="Segoe UI"/>
              </a:rPr>
              <a:t>The scanner reads a plain payment into exact amounts per address, screens the recipient against the registry, and writes one sentence a non-technical person can act on. The command line is in the shot; the raw output is in the evidence folder.</a:t>
            </a:r>
          </a:p>
        </p:txBody>
      </p:sp>
      <p:sp>
        <p:nvSpPr>
          <p:cNvPr id="19" name="TextBox 18"/>
          <p:cNvSpPr txBox="1"/>
          <p:nvPr/>
        </p:nvSpPr>
        <p:spPr>
          <a:xfrm>
            <a:off x="731520" y="6355080"/>
            <a:ext cx="8229600" cy="274320"/>
          </a:xfrm>
          <a:prstGeom prst="rect">
            <a:avLst/>
          </a:prstGeom>
          <a:noFill/>
        </p:spPr>
        <p:txBody>
          <a:bodyPr wrap="square" lIns="0" rIns="0" tIns="0" bIns="0">
            <a:spAutoFit/>
          </a:bodyPr>
          <a:lstStyle/>
          <a:p>
            <a:pPr algn="l">
              <a:lnSpc>
                <a:spcPct val="115000"/>
              </a:lnSpc>
              <a:spcAft>
                <a:spcPts val="600"/>
              </a:spcAft>
            </a:pPr>
            <a:r>
              <a:rPr sz="950" b="0">
                <a:solidFill>
                  <a:srgbClr val="9AA4BF"/>
                </a:solidFill>
                <a:latin typeface="Segoe UI"/>
              </a:rPr>
              <a:t>Lantern · Instawards Deliverable 2</a:t>
            </a:r>
          </a:p>
        </p:txBody>
      </p:sp>
      <p:sp>
        <p:nvSpPr>
          <p:cNvPr id="20" name="TextBox 19"/>
          <p:cNvSpPr txBox="1"/>
          <p:nvPr/>
        </p:nvSpPr>
        <p:spPr>
          <a:xfrm>
            <a:off x="10424160" y="6355080"/>
            <a:ext cx="1005840" cy="274320"/>
          </a:xfrm>
          <a:prstGeom prst="rect">
            <a:avLst/>
          </a:prstGeom>
          <a:noFill/>
        </p:spPr>
        <p:txBody>
          <a:bodyPr wrap="square" lIns="0" rIns="0" tIns="0" bIns="0">
            <a:spAutoFit/>
          </a:bodyPr>
          <a:lstStyle/>
          <a:p>
            <a:pPr algn="r">
              <a:lnSpc>
                <a:spcPct val="115000"/>
              </a:lnSpc>
              <a:spcAft>
                <a:spcPts val="600"/>
              </a:spcAft>
            </a:pPr>
            <a:r>
              <a:rPr sz="950" b="0">
                <a:solidFill>
                  <a:srgbClr val="9AA4BF"/>
                </a:solidFill>
                <a:latin typeface="Segoe UI"/>
              </a:rPr>
              <a:t>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74320"/>
          </a:xfrm>
          <a:prstGeom prst="rect">
            <a:avLst/>
          </a:prstGeom>
          <a:noFill/>
        </p:spPr>
        <p:txBody>
          <a:bodyPr wrap="square" lIns="0" rIns="0" tIns="0" bIns="0">
            <a:spAutoFit/>
          </a:bodyPr>
          <a:lstStyle/>
          <a:p>
            <a:pPr algn="l">
              <a:lnSpc>
                <a:spcPct val="115000"/>
              </a:lnSpc>
              <a:spcAft>
                <a:spcPts val="600"/>
              </a:spcAft>
            </a:pPr>
            <a:r>
              <a:rPr sz="1150" b="1">
                <a:solidFill>
                  <a:srgbClr val="FFC107"/>
                </a:solidFill>
                <a:latin typeface="Segoe UI"/>
              </a:rPr>
              <a:t>PROOF · 2 OF 6</a:t>
            </a:r>
          </a:p>
        </p:txBody>
      </p:sp>
      <p:sp>
        <p:nvSpPr>
          <p:cNvPr id="4" name="TextBox 3"/>
          <p:cNvSpPr txBox="1"/>
          <p:nvPr/>
        </p:nvSpPr>
        <p:spPr>
          <a:xfrm>
            <a:off x="731520" y="786384"/>
            <a:ext cx="10698480" cy="640080"/>
          </a:xfrm>
          <a:prstGeom prst="rect">
            <a:avLst/>
          </a:prstGeom>
          <a:noFill/>
        </p:spPr>
        <p:txBody>
          <a:bodyPr wrap="square" lIns="0" rIns="0" tIns="0" bIns="0">
            <a:spAutoFit/>
          </a:bodyPr>
          <a:lstStyle/>
          <a:p>
            <a:pPr algn="l">
              <a:lnSpc>
                <a:spcPct val="115000"/>
              </a:lnSpc>
              <a:spcAft>
                <a:spcPts val="600"/>
              </a:spcAft>
            </a:pPr>
            <a:r>
              <a:rPr sz="3000" b="1">
                <a:solidFill>
                  <a:srgbClr val="E8EAF2"/>
                </a:solidFill>
                <a:latin typeface="Segoe UI"/>
              </a:rPr>
              <a:t>The unlimited approval, caught</a:t>
            </a:r>
          </a:p>
        </p:txBody>
      </p:sp>
      <p:sp>
        <p:nvSpPr>
          <p:cNvPr id="5" name="Rectangle 4"/>
          <p:cNvSpPr/>
          <p:nvPr/>
        </p:nvSpPr>
        <p:spPr>
          <a:xfrm>
            <a:off x="731520" y="1481328"/>
            <a:ext cx="1280160" cy="3200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83080"/>
            <a:ext cx="685800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2_1_contract_page.png"/>
          <p:cNvPicPr>
            <a:picLocks noChangeAspect="1"/>
          </p:cNvPicPr>
          <p:nvPr/>
        </p:nvPicPr>
        <p:blipFill>
          <a:blip r:embed="rId3"/>
          <a:stretch>
            <a:fillRect/>
          </a:stretch>
        </p:blipFill>
        <p:spPr>
          <a:xfrm>
            <a:off x="1305763" y="1892808"/>
            <a:ext cx="5709513" cy="4078224"/>
          </a:xfrm>
          <a:prstGeom prst="rect">
            <a:avLst/>
          </a:prstGeom>
        </p:spPr>
      </p:pic>
      <p:sp>
        <p:nvSpPr>
          <p:cNvPr id="8" name="Rounded Rectangle 7"/>
          <p:cNvSpPr/>
          <p:nvPr/>
        </p:nvSpPr>
        <p:spPr>
          <a:xfrm>
            <a:off x="7818120" y="1783080"/>
            <a:ext cx="361188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4152" y="202082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FIXTURE</a:t>
            </a:r>
          </a:p>
        </p:txBody>
      </p:sp>
      <p:sp>
        <p:nvSpPr>
          <p:cNvPr id="10" name="TextBox 9"/>
          <p:cNvSpPr txBox="1"/>
          <p:nvPr/>
        </p:nvSpPr>
        <p:spPr>
          <a:xfrm>
            <a:off x="8074152" y="2221992"/>
            <a:ext cx="3108960" cy="402336"/>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sep41-approve</a:t>
            </a:r>
          </a:p>
        </p:txBody>
      </p:sp>
      <p:sp>
        <p:nvSpPr>
          <p:cNvPr id="11" name="TextBox 10"/>
          <p:cNvSpPr txBox="1"/>
          <p:nvPr/>
        </p:nvSpPr>
        <p:spPr>
          <a:xfrm>
            <a:off x="8074152" y="275234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VERDICT</a:t>
            </a:r>
          </a:p>
        </p:txBody>
      </p:sp>
      <p:sp>
        <p:nvSpPr>
          <p:cNvPr id="12" name="TextBox 11"/>
          <p:cNvSpPr txBox="1"/>
          <p:nvPr/>
        </p:nvSpPr>
        <p:spPr>
          <a:xfrm>
            <a:off x="8074152" y="2953512"/>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HIGH · BLOCK_CONFIRM</a:t>
            </a:r>
          </a:p>
        </p:txBody>
      </p:sp>
      <p:sp>
        <p:nvSpPr>
          <p:cNvPr id="13" name="TextBox 12"/>
          <p:cNvSpPr txBox="1"/>
          <p:nvPr/>
        </p:nvSpPr>
        <p:spPr>
          <a:xfrm>
            <a:off x="8074152" y="3291840"/>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ALLOWANCE</a:t>
            </a:r>
          </a:p>
        </p:txBody>
      </p:sp>
      <p:sp>
        <p:nvSpPr>
          <p:cNvPr id="14" name="TextBox 13"/>
          <p:cNvSpPr txBox="1"/>
          <p:nvPr/>
        </p:nvSpPr>
        <p:spPr>
          <a:xfrm>
            <a:off x="8074152" y="3493008"/>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unlimited USDC · ledger 5,666,220</a:t>
            </a:r>
          </a:p>
        </p:txBody>
      </p:sp>
      <p:sp>
        <p:nvSpPr>
          <p:cNvPr id="15" name="TextBox 14"/>
          <p:cNvSpPr txBox="1"/>
          <p:nvPr/>
        </p:nvSpPr>
        <p:spPr>
          <a:xfrm>
            <a:off x="8074152" y="3831336"/>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REASON</a:t>
            </a:r>
          </a:p>
        </p:txBody>
      </p:sp>
      <p:sp>
        <p:nvSpPr>
          <p:cNvPr id="16" name="TextBox 15"/>
          <p:cNvSpPr txBox="1"/>
          <p:nvPr/>
        </p:nvSpPr>
        <p:spPr>
          <a:xfrm>
            <a:off x="8074152" y="4032504"/>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unlimited_allowance</a:t>
            </a:r>
          </a:p>
        </p:txBody>
      </p:sp>
      <p:sp>
        <p:nvSpPr>
          <p:cNvPr id="17" name="Rectangle 16"/>
          <p:cNvSpPr/>
          <p:nvPr/>
        </p:nvSpPr>
        <p:spPr>
          <a:xfrm>
            <a:off x="8074152" y="4425696"/>
            <a:ext cx="640080" cy="1828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74152" y="4572000"/>
            <a:ext cx="3108960" cy="1188720"/>
          </a:xfrm>
          <a:prstGeom prst="rect">
            <a:avLst/>
          </a:prstGeom>
          <a:noFill/>
        </p:spPr>
        <p:txBody>
          <a:bodyPr wrap="square" lIns="0" rIns="0" tIns="0" bIns="0">
            <a:spAutoFit/>
          </a:bodyPr>
          <a:lstStyle/>
          <a:p>
            <a:pPr algn="l">
              <a:lnSpc>
                <a:spcPct val="130000"/>
              </a:lnSpc>
              <a:spcAft>
                <a:spcPts val="600"/>
              </a:spcAft>
            </a:pPr>
            <a:r>
              <a:rPr sz="1000" b="0">
                <a:solidFill>
                  <a:srgbClr val="9AA4BF"/>
                </a:solidFill>
                <a:latin typeface="Segoe UI"/>
              </a:rPr>
              <a:t>The headline case from SOW §4.1: a SEP-41 approve whose allowance is effectively unbounded. The scanner decodes the token call, shows the allowance and its expiry, and raises the risk. A user who sees this cancels — that is the product.</a:t>
            </a:r>
          </a:p>
        </p:txBody>
      </p:sp>
      <p:sp>
        <p:nvSpPr>
          <p:cNvPr id="19" name="TextBox 18"/>
          <p:cNvSpPr txBox="1"/>
          <p:nvPr/>
        </p:nvSpPr>
        <p:spPr>
          <a:xfrm>
            <a:off x="731520" y="6355080"/>
            <a:ext cx="8229600" cy="274320"/>
          </a:xfrm>
          <a:prstGeom prst="rect">
            <a:avLst/>
          </a:prstGeom>
          <a:noFill/>
        </p:spPr>
        <p:txBody>
          <a:bodyPr wrap="square" lIns="0" rIns="0" tIns="0" bIns="0">
            <a:spAutoFit/>
          </a:bodyPr>
          <a:lstStyle/>
          <a:p>
            <a:pPr algn="l">
              <a:lnSpc>
                <a:spcPct val="115000"/>
              </a:lnSpc>
              <a:spcAft>
                <a:spcPts val="600"/>
              </a:spcAft>
            </a:pPr>
            <a:r>
              <a:rPr sz="950" b="0">
                <a:solidFill>
                  <a:srgbClr val="9AA4BF"/>
                </a:solidFill>
                <a:latin typeface="Segoe UI"/>
              </a:rPr>
              <a:t>Lantern · Instawards Deliverable 2</a:t>
            </a:r>
          </a:p>
        </p:txBody>
      </p:sp>
      <p:sp>
        <p:nvSpPr>
          <p:cNvPr id="20" name="TextBox 19"/>
          <p:cNvSpPr txBox="1"/>
          <p:nvPr/>
        </p:nvSpPr>
        <p:spPr>
          <a:xfrm>
            <a:off x="10424160" y="6355080"/>
            <a:ext cx="1005840" cy="274320"/>
          </a:xfrm>
          <a:prstGeom prst="rect">
            <a:avLst/>
          </a:prstGeom>
          <a:noFill/>
        </p:spPr>
        <p:txBody>
          <a:bodyPr wrap="square" lIns="0" rIns="0" tIns="0" bIns="0">
            <a:spAutoFit/>
          </a:bodyPr>
          <a:lstStyle/>
          <a:p>
            <a:pPr algn="r">
              <a:lnSpc>
                <a:spcPct val="115000"/>
              </a:lnSpc>
              <a:spcAft>
                <a:spcPts val="600"/>
              </a:spcAft>
            </a:pPr>
            <a:r>
              <a:rPr sz="950" b="0">
                <a:solidFill>
                  <a:srgbClr val="9AA4BF"/>
                </a:solidFill>
                <a:latin typeface="Segoe UI"/>
              </a:rPr>
              <a:t>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74320"/>
          </a:xfrm>
          <a:prstGeom prst="rect">
            <a:avLst/>
          </a:prstGeom>
          <a:noFill/>
        </p:spPr>
        <p:txBody>
          <a:bodyPr wrap="square" lIns="0" rIns="0" tIns="0" bIns="0">
            <a:spAutoFit/>
          </a:bodyPr>
          <a:lstStyle/>
          <a:p>
            <a:pPr algn="l">
              <a:lnSpc>
                <a:spcPct val="115000"/>
              </a:lnSpc>
              <a:spcAft>
                <a:spcPts val="600"/>
              </a:spcAft>
            </a:pPr>
            <a:r>
              <a:rPr sz="1150" b="1">
                <a:solidFill>
                  <a:srgbClr val="FFC107"/>
                </a:solidFill>
                <a:latin typeface="Segoe UI"/>
              </a:rPr>
              <a:t>PROOF · 3 OF 6</a:t>
            </a:r>
          </a:p>
        </p:txBody>
      </p:sp>
      <p:sp>
        <p:nvSpPr>
          <p:cNvPr id="4" name="TextBox 3"/>
          <p:cNvSpPr txBox="1"/>
          <p:nvPr/>
        </p:nvSpPr>
        <p:spPr>
          <a:xfrm>
            <a:off x="731520" y="786384"/>
            <a:ext cx="10698480" cy="640080"/>
          </a:xfrm>
          <a:prstGeom prst="rect">
            <a:avLst/>
          </a:prstGeom>
          <a:noFill/>
        </p:spPr>
        <p:txBody>
          <a:bodyPr wrap="square" lIns="0" rIns="0" tIns="0" bIns="0">
            <a:spAutoFit/>
          </a:bodyPr>
          <a:lstStyle/>
          <a:p>
            <a:pPr algn="l">
              <a:lnSpc>
                <a:spcPct val="115000"/>
              </a:lnSpc>
              <a:spcAft>
                <a:spcPts val="600"/>
              </a:spcAft>
            </a:pPr>
            <a:r>
              <a:rPr sz="3000" b="1">
                <a:solidFill>
                  <a:srgbClr val="E8EAF2"/>
                </a:solidFill>
                <a:latin typeface="Segoe UI"/>
              </a:rPr>
              <a:t>A nested sub-invocation is not invisible</a:t>
            </a:r>
          </a:p>
        </p:txBody>
      </p:sp>
      <p:sp>
        <p:nvSpPr>
          <p:cNvPr id="5" name="Rectangle 4"/>
          <p:cNvSpPr/>
          <p:nvPr/>
        </p:nvSpPr>
        <p:spPr>
          <a:xfrm>
            <a:off x="731520" y="1481328"/>
            <a:ext cx="1280160" cy="3200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83080"/>
            <a:ext cx="685800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2_1_contract_page.png"/>
          <p:cNvPicPr>
            <a:picLocks noChangeAspect="1"/>
          </p:cNvPicPr>
          <p:nvPr/>
        </p:nvPicPr>
        <p:blipFill>
          <a:blip r:embed="rId3"/>
          <a:stretch>
            <a:fillRect/>
          </a:stretch>
        </p:blipFill>
        <p:spPr>
          <a:xfrm>
            <a:off x="1305763" y="1892808"/>
            <a:ext cx="5709513" cy="4078224"/>
          </a:xfrm>
          <a:prstGeom prst="rect">
            <a:avLst/>
          </a:prstGeom>
        </p:spPr>
      </p:pic>
      <p:sp>
        <p:nvSpPr>
          <p:cNvPr id="8" name="Rounded Rectangle 7"/>
          <p:cNvSpPr/>
          <p:nvPr/>
        </p:nvSpPr>
        <p:spPr>
          <a:xfrm>
            <a:off x="7818120" y="1783080"/>
            <a:ext cx="361188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4152" y="202082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FIXTURE</a:t>
            </a:r>
          </a:p>
        </p:txBody>
      </p:sp>
      <p:sp>
        <p:nvSpPr>
          <p:cNvPr id="10" name="TextBox 9"/>
          <p:cNvSpPr txBox="1"/>
          <p:nvPr/>
        </p:nvSpPr>
        <p:spPr>
          <a:xfrm>
            <a:off x="8074152" y="2221992"/>
            <a:ext cx="3108960" cy="402336"/>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nested-subinvocation</a:t>
            </a:r>
          </a:p>
        </p:txBody>
      </p:sp>
      <p:sp>
        <p:nvSpPr>
          <p:cNvPr id="11" name="TextBox 10"/>
          <p:cNvSpPr txBox="1"/>
          <p:nvPr/>
        </p:nvSpPr>
        <p:spPr>
          <a:xfrm>
            <a:off x="8074152" y="275234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AUTH TREE</a:t>
            </a:r>
          </a:p>
        </p:txBody>
      </p:sp>
      <p:sp>
        <p:nvSpPr>
          <p:cNvPr id="12" name="TextBox 11"/>
          <p:cNvSpPr txBox="1"/>
          <p:nvPr/>
        </p:nvSpPr>
        <p:spPr>
          <a:xfrm>
            <a:off x="8074152" y="2953512"/>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1 entry · depth 1</a:t>
            </a:r>
          </a:p>
        </p:txBody>
      </p:sp>
      <p:sp>
        <p:nvSpPr>
          <p:cNvPr id="13" name="TextBox 12"/>
          <p:cNvSpPr txBox="1"/>
          <p:nvPr/>
        </p:nvSpPr>
        <p:spPr>
          <a:xfrm>
            <a:off x="8074152" y="3291840"/>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EFFECT</a:t>
            </a:r>
          </a:p>
        </p:txBody>
      </p:sp>
      <p:sp>
        <p:nvSpPr>
          <p:cNvPr id="14" name="TextBox 13"/>
          <p:cNvSpPr txBox="1"/>
          <p:nvPr/>
        </p:nvSpPr>
        <p:spPr>
          <a:xfrm>
            <a:off x="8074152" y="3493008"/>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−1 XLM at depth 1</a:t>
            </a:r>
          </a:p>
        </p:txBody>
      </p:sp>
      <p:sp>
        <p:nvSpPr>
          <p:cNvPr id="15" name="TextBox 14"/>
          <p:cNvSpPr txBox="1"/>
          <p:nvPr/>
        </p:nvSpPr>
        <p:spPr>
          <a:xfrm>
            <a:off x="8074152" y="3831336"/>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VERDICT</a:t>
            </a:r>
          </a:p>
        </p:txBody>
      </p:sp>
      <p:sp>
        <p:nvSpPr>
          <p:cNvPr id="16" name="TextBox 15"/>
          <p:cNvSpPr txBox="1"/>
          <p:nvPr/>
        </p:nvSpPr>
        <p:spPr>
          <a:xfrm>
            <a:off x="8074152" y="4032504"/>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MEDIUM · WARN</a:t>
            </a:r>
          </a:p>
        </p:txBody>
      </p:sp>
      <p:sp>
        <p:nvSpPr>
          <p:cNvPr id="17" name="Rectangle 16"/>
          <p:cNvSpPr/>
          <p:nvPr/>
        </p:nvSpPr>
        <p:spPr>
          <a:xfrm>
            <a:off x="8074152" y="4425696"/>
            <a:ext cx="640080" cy="1828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74152" y="4572000"/>
            <a:ext cx="3108960" cy="1188720"/>
          </a:xfrm>
          <a:prstGeom prst="rect">
            <a:avLst/>
          </a:prstGeom>
          <a:noFill/>
        </p:spPr>
        <p:txBody>
          <a:bodyPr wrap="square" lIns="0" rIns="0" tIns="0" bIns="0">
            <a:spAutoFit/>
          </a:bodyPr>
          <a:lstStyle/>
          <a:p>
            <a:pPr algn="l">
              <a:lnSpc>
                <a:spcPct val="130000"/>
              </a:lnSpc>
              <a:spcAft>
                <a:spcPts val="600"/>
              </a:spcAft>
            </a:pPr>
            <a:r>
              <a:rPr sz="1000" b="0">
                <a:solidFill>
                  <a:srgbClr val="9AA4BF"/>
                </a:solidFill>
                <a:latin typeface="Segoe UI"/>
              </a:rPr>
              <a:t>A Blend supply call that transfers XLM one level down the authorization tree. The transfer surfaces in the effects with its depth, and the outer contract is labelled unverified rather than guessed at.</a:t>
            </a:r>
          </a:p>
        </p:txBody>
      </p:sp>
      <p:sp>
        <p:nvSpPr>
          <p:cNvPr id="19" name="TextBox 18"/>
          <p:cNvSpPr txBox="1"/>
          <p:nvPr/>
        </p:nvSpPr>
        <p:spPr>
          <a:xfrm>
            <a:off x="731520" y="6355080"/>
            <a:ext cx="8229600" cy="274320"/>
          </a:xfrm>
          <a:prstGeom prst="rect">
            <a:avLst/>
          </a:prstGeom>
          <a:noFill/>
        </p:spPr>
        <p:txBody>
          <a:bodyPr wrap="square" lIns="0" rIns="0" tIns="0" bIns="0">
            <a:spAutoFit/>
          </a:bodyPr>
          <a:lstStyle/>
          <a:p>
            <a:pPr algn="l">
              <a:lnSpc>
                <a:spcPct val="115000"/>
              </a:lnSpc>
              <a:spcAft>
                <a:spcPts val="600"/>
              </a:spcAft>
            </a:pPr>
            <a:r>
              <a:rPr sz="950" b="0">
                <a:solidFill>
                  <a:srgbClr val="9AA4BF"/>
                </a:solidFill>
                <a:latin typeface="Segoe UI"/>
              </a:rPr>
              <a:t>Lantern · Instawards Deliverable 2</a:t>
            </a:r>
          </a:p>
        </p:txBody>
      </p:sp>
      <p:sp>
        <p:nvSpPr>
          <p:cNvPr id="20" name="TextBox 19"/>
          <p:cNvSpPr txBox="1"/>
          <p:nvPr/>
        </p:nvSpPr>
        <p:spPr>
          <a:xfrm>
            <a:off x="10424160" y="6355080"/>
            <a:ext cx="1005840" cy="274320"/>
          </a:xfrm>
          <a:prstGeom prst="rect">
            <a:avLst/>
          </a:prstGeom>
          <a:noFill/>
        </p:spPr>
        <p:txBody>
          <a:bodyPr wrap="square" lIns="0" rIns="0" tIns="0" bIns="0">
            <a:spAutoFit/>
          </a:bodyPr>
          <a:lstStyle/>
          <a:p>
            <a:pPr algn="r">
              <a:lnSpc>
                <a:spcPct val="115000"/>
              </a:lnSpc>
              <a:spcAft>
                <a:spcPts val="600"/>
              </a:spcAft>
            </a:pPr>
            <a:r>
              <a:rPr sz="950" b="0">
                <a:solidFill>
                  <a:srgbClr val="9AA4BF"/>
                </a:solidFill>
                <a:latin typeface="Segoe UI"/>
              </a:rPr>
              <a:t>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74320"/>
          </a:xfrm>
          <a:prstGeom prst="rect">
            <a:avLst/>
          </a:prstGeom>
          <a:noFill/>
        </p:spPr>
        <p:txBody>
          <a:bodyPr wrap="square" lIns="0" rIns="0" tIns="0" bIns="0">
            <a:spAutoFit/>
          </a:bodyPr>
          <a:lstStyle/>
          <a:p>
            <a:pPr algn="l">
              <a:lnSpc>
                <a:spcPct val="115000"/>
              </a:lnSpc>
              <a:spcAft>
                <a:spcPts val="600"/>
              </a:spcAft>
            </a:pPr>
            <a:r>
              <a:rPr sz="1150" b="1">
                <a:solidFill>
                  <a:srgbClr val="FFC107"/>
                </a:solidFill>
                <a:latin typeface="Segoe UI"/>
              </a:rPr>
              <a:t>PROOF · 4 OF 6</a:t>
            </a:r>
          </a:p>
        </p:txBody>
      </p:sp>
      <p:sp>
        <p:nvSpPr>
          <p:cNvPr id="4" name="TextBox 3"/>
          <p:cNvSpPr txBox="1"/>
          <p:nvPr/>
        </p:nvSpPr>
        <p:spPr>
          <a:xfrm>
            <a:off x="731520" y="786384"/>
            <a:ext cx="10698480" cy="640080"/>
          </a:xfrm>
          <a:prstGeom prst="rect">
            <a:avLst/>
          </a:prstGeom>
          <a:noFill/>
        </p:spPr>
        <p:txBody>
          <a:bodyPr wrap="square" lIns="0" rIns="0" tIns="0" bIns="0">
            <a:spAutoFit/>
          </a:bodyPr>
          <a:lstStyle/>
          <a:p>
            <a:pPr algn="l">
              <a:lnSpc>
                <a:spcPct val="115000"/>
              </a:lnSpc>
              <a:spcAft>
                <a:spcPts val="600"/>
              </a:spcAft>
            </a:pPr>
            <a:r>
              <a:rPr sz="3000" b="1">
                <a:solidFill>
                  <a:srgbClr val="E8EAF2"/>
                </a:solidFill>
                <a:latin typeface="Segoe UI"/>
              </a:rPr>
              <a:t>Unverified contract, handled honestly</a:t>
            </a:r>
          </a:p>
        </p:txBody>
      </p:sp>
      <p:sp>
        <p:nvSpPr>
          <p:cNvPr id="5" name="Rectangle 4"/>
          <p:cNvSpPr/>
          <p:nvPr/>
        </p:nvSpPr>
        <p:spPr>
          <a:xfrm>
            <a:off x="731520" y="1481328"/>
            <a:ext cx="1280160" cy="3200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83080"/>
            <a:ext cx="685800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2_1_contract_page.png"/>
          <p:cNvPicPr>
            <a:picLocks noChangeAspect="1"/>
          </p:cNvPicPr>
          <p:nvPr/>
        </p:nvPicPr>
        <p:blipFill>
          <a:blip r:embed="rId3"/>
          <a:stretch>
            <a:fillRect/>
          </a:stretch>
        </p:blipFill>
        <p:spPr>
          <a:xfrm>
            <a:off x="1305763" y="1892808"/>
            <a:ext cx="5709513" cy="4078224"/>
          </a:xfrm>
          <a:prstGeom prst="rect">
            <a:avLst/>
          </a:prstGeom>
        </p:spPr>
      </p:pic>
      <p:sp>
        <p:nvSpPr>
          <p:cNvPr id="8" name="Rounded Rectangle 7"/>
          <p:cNvSpPr/>
          <p:nvPr/>
        </p:nvSpPr>
        <p:spPr>
          <a:xfrm>
            <a:off x="7818120" y="1783080"/>
            <a:ext cx="361188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4152" y="202082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FIXTURE</a:t>
            </a:r>
          </a:p>
        </p:txBody>
      </p:sp>
      <p:sp>
        <p:nvSpPr>
          <p:cNvPr id="10" name="TextBox 9"/>
          <p:cNvSpPr txBox="1"/>
          <p:nvPr/>
        </p:nvSpPr>
        <p:spPr>
          <a:xfrm>
            <a:off x="8074152" y="2221992"/>
            <a:ext cx="3108960" cy="402336"/>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unknown-contract</a:t>
            </a:r>
          </a:p>
        </p:txBody>
      </p:sp>
      <p:sp>
        <p:nvSpPr>
          <p:cNvPr id="11" name="TextBox 10"/>
          <p:cNvSpPr txBox="1"/>
          <p:nvPr/>
        </p:nvSpPr>
        <p:spPr>
          <a:xfrm>
            <a:off x="8074152" y="275234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LABEL</a:t>
            </a:r>
          </a:p>
        </p:txBody>
      </p:sp>
      <p:sp>
        <p:nvSpPr>
          <p:cNvPr id="12" name="TextBox 11"/>
          <p:cNvSpPr txBox="1"/>
          <p:nvPr/>
        </p:nvSpPr>
        <p:spPr>
          <a:xfrm>
            <a:off x="8074152" y="2953512"/>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unverified — semantics unknown</a:t>
            </a:r>
          </a:p>
        </p:txBody>
      </p:sp>
      <p:sp>
        <p:nvSpPr>
          <p:cNvPr id="13" name="TextBox 12"/>
          <p:cNvSpPr txBox="1"/>
          <p:nvPr/>
        </p:nvSpPr>
        <p:spPr>
          <a:xfrm>
            <a:off x="8074152" y="3291840"/>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SIMULATION</a:t>
            </a:r>
          </a:p>
        </p:txBody>
      </p:sp>
      <p:sp>
        <p:nvSpPr>
          <p:cNvPr id="14" name="TextBox 13"/>
          <p:cNvSpPr txBox="1"/>
          <p:nvPr/>
        </p:nvSpPr>
        <p:spPr>
          <a:xfrm>
            <a:off x="8074152" y="3493008"/>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reverted, fail-closed</a:t>
            </a:r>
          </a:p>
        </p:txBody>
      </p:sp>
      <p:sp>
        <p:nvSpPr>
          <p:cNvPr id="15" name="TextBox 14"/>
          <p:cNvSpPr txBox="1"/>
          <p:nvPr/>
        </p:nvSpPr>
        <p:spPr>
          <a:xfrm>
            <a:off x="8074152" y="3831336"/>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VERDICT</a:t>
            </a:r>
          </a:p>
        </p:txBody>
      </p:sp>
      <p:sp>
        <p:nvSpPr>
          <p:cNvPr id="16" name="TextBox 15"/>
          <p:cNvSpPr txBox="1"/>
          <p:nvPr/>
        </p:nvSpPr>
        <p:spPr>
          <a:xfrm>
            <a:off x="8074152" y="4032504"/>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HIGH · BLOCK_CONFIRM</a:t>
            </a:r>
          </a:p>
        </p:txBody>
      </p:sp>
      <p:sp>
        <p:nvSpPr>
          <p:cNvPr id="17" name="Rectangle 16"/>
          <p:cNvSpPr/>
          <p:nvPr/>
        </p:nvSpPr>
        <p:spPr>
          <a:xfrm>
            <a:off x="8074152" y="4425696"/>
            <a:ext cx="640080" cy="1828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74152" y="4572000"/>
            <a:ext cx="3108960" cy="1188720"/>
          </a:xfrm>
          <a:prstGeom prst="rect">
            <a:avLst/>
          </a:prstGeom>
          <a:noFill/>
        </p:spPr>
        <p:txBody>
          <a:bodyPr wrap="square" lIns="0" rIns="0" tIns="0" bIns="0">
            <a:spAutoFit/>
          </a:bodyPr>
          <a:lstStyle/>
          <a:p>
            <a:pPr algn="l">
              <a:lnSpc>
                <a:spcPct val="130000"/>
              </a:lnSpc>
              <a:spcAft>
                <a:spcPts val="600"/>
              </a:spcAft>
            </a:pPr>
            <a:r>
              <a:rPr sz="1000" b="0">
                <a:solidFill>
                  <a:srgbClr val="9AA4BF"/>
                </a:solidFill>
                <a:latin typeface="Segoe UI"/>
              </a:rPr>
              <a:t>A call the scanner has no semantics for. It prints the contract id, the function and the decoded arguments, says so in a structured label the UI cannot lose, and never claims to know what the function does.</a:t>
            </a:r>
          </a:p>
        </p:txBody>
      </p:sp>
      <p:sp>
        <p:nvSpPr>
          <p:cNvPr id="19" name="TextBox 18"/>
          <p:cNvSpPr txBox="1"/>
          <p:nvPr/>
        </p:nvSpPr>
        <p:spPr>
          <a:xfrm>
            <a:off x="731520" y="6355080"/>
            <a:ext cx="8229600" cy="274320"/>
          </a:xfrm>
          <a:prstGeom prst="rect">
            <a:avLst/>
          </a:prstGeom>
          <a:noFill/>
        </p:spPr>
        <p:txBody>
          <a:bodyPr wrap="square" lIns="0" rIns="0" tIns="0" bIns="0">
            <a:spAutoFit/>
          </a:bodyPr>
          <a:lstStyle/>
          <a:p>
            <a:pPr algn="l">
              <a:lnSpc>
                <a:spcPct val="115000"/>
              </a:lnSpc>
              <a:spcAft>
                <a:spcPts val="600"/>
              </a:spcAft>
            </a:pPr>
            <a:r>
              <a:rPr sz="950" b="0">
                <a:solidFill>
                  <a:srgbClr val="9AA4BF"/>
                </a:solidFill>
                <a:latin typeface="Segoe UI"/>
              </a:rPr>
              <a:t>Lantern · Instawards Deliverable 2</a:t>
            </a:r>
          </a:p>
        </p:txBody>
      </p:sp>
      <p:sp>
        <p:nvSpPr>
          <p:cNvPr id="20" name="TextBox 19"/>
          <p:cNvSpPr txBox="1"/>
          <p:nvPr/>
        </p:nvSpPr>
        <p:spPr>
          <a:xfrm>
            <a:off x="10424160" y="6355080"/>
            <a:ext cx="1005840" cy="274320"/>
          </a:xfrm>
          <a:prstGeom prst="rect">
            <a:avLst/>
          </a:prstGeom>
          <a:noFill/>
        </p:spPr>
        <p:txBody>
          <a:bodyPr wrap="square" lIns="0" rIns="0" tIns="0" bIns="0">
            <a:spAutoFit/>
          </a:bodyPr>
          <a:lstStyle/>
          <a:p>
            <a:pPr algn="r">
              <a:lnSpc>
                <a:spcPct val="115000"/>
              </a:lnSpc>
              <a:spcAft>
                <a:spcPts val="600"/>
              </a:spcAft>
            </a:pPr>
            <a:r>
              <a:rPr sz="950" b="0">
                <a:solidFill>
                  <a:srgbClr val="9AA4BF"/>
                </a:solidFill>
                <a:latin typeface="Segoe UI"/>
              </a:rPr>
              <a:t>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74320"/>
          </a:xfrm>
          <a:prstGeom prst="rect">
            <a:avLst/>
          </a:prstGeom>
          <a:noFill/>
        </p:spPr>
        <p:txBody>
          <a:bodyPr wrap="square" lIns="0" rIns="0" tIns="0" bIns="0">
            <a:spAutoFit/>
          </a:bodyPr>
          <a:lstStyle/>
          <a:p>
            <a:pPr algn="l">
              <a:lnSpc>
                <a:spcPct val="115000"/>
              </a:lnSpc>
              <a:spcAft>
                <a:spcPts val="600"/>
              </a:spcAft>
            </a:pPr>
            <a:r>
              <a:rPr sz="1150" b="1">
                <a:solidFill>
                  <a:srgbClr val="FFC107"/>
                </a:solidFill>
                <a:latin typeface="Segoe UI"/>
              </a:rPr>
              <a:t>PROOF · 5 OF 6</a:t>
            </a:r>
          </a:p>
        </p:txBody>
      </p:sp>
      <p:sp>
        <p:nvSpPr>
          <p:cNvPr id="4" name="TextBox 3"/>
          <p:cNvSpPr txBox="1"/>
          <p:nvPr/>
        </p:nvSpPr>
        <p:spPr>
          <a:xfrm>
            <a:off x="731520" y="786384"/>
            <a:ext cx="10698480" cy="640080"/>
          </a:xfrm>
          <a:prstGeom prst="rect">
            <a:avLst/>
          </a:prstGeom>
          <a:noFill/>
        </p:spPr>
        <p:txBody>
          <a:bodyPr wrap="square" lIns="0" rIns="0" tIns="0" bIns="0">
            <a:spAutoFit/>
          </a:bodyPr>
          <a:lstStyle/>
          <a:p>
            <a:pPr algn="l">
              <a:lnSpc>
                <a:spcPct val="115000"/>
              </a:lnSpc>
              <a:spcAft>
                <a:spcPts val="600"/>
              </a:spcAft>
            </a:pPr>
            <a:r>
              <a:rPr sz="3000" b="1">
                <a:solidFill>
                  <a:srgbClr val="E8EAF2"/>
                </a:solidFill>
                <a:latin typeface="Segoe UI"/>
              </a:rPr>
              <a:t>Screened against the D1 registry</a:t>
            </a:r>
          </a:p>
        </p:txBody>
      </p:sp>
      <p:sp>
        <p:nvSpPr>
          <p:cNvPr id="5" name="Rectangle 4"/>
          <p:cNvSpPr/>
          <p:nvPr/>
        </p:nvSpPr>
        <p:spPr>
          <a:xfrm>
            <a:off x="731520" y="1481328"/>
            <a:ext cx="1280160" cy="3200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83080"/>
            <a:ext cx="685800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2_1_contract_page.png"/>
          <p:cNvPicPr>
            <a:picLocks noChangeAspect="1"/>
          </p:cNvPicPr>
          <p:nvPr/>
        </p:nvPicPr>
        <p:blipFill>
          <a:blip r:embed="rId3"/>
          <a:stretch>
            <a:fillRect/>
          </a:stretch>
        </p:blipFill>
        <p:spPr>
          <a:xfrm>
            <a:off x="1305763" y="1892808"/>
            <a:ext cx="5709513" cy="4078224"/>
          </a:xfrm>
          <a:prstGeom prst="rect">
            <a:avLst/>
          </a:prstGeom>
        </p:spPr>
      </p:pic>
      <p:sp>
        <p:nvSpPr>
          <p:cNvPr id="8" name="Rounded Rectangle 7"/>
          <p:cNvSpPr/>
          <p:nvPr/>
        </p:nvSpPr>
        <p:spPr>
          <a:xfrm>
            <a:off x="7818120" y="1783080"/>
            <a:ext cx="361188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4152" y="202082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FIXTURE</a:t>
            </a:r>
          </a:p>
        </p:txBody>
      </p:sp>
      <p:sp>
        <p:nvSpPr>
          <p:cNvPr id="10" name="TextBox 9"/>
          <p:cNvSpPr txBox="1"/>
          <p:nvPr/>
        </p:nvSpPr>
        <p:spPr>
          <a:xfrm>
            <a:off x="8074152" y="2221992"/>
            <a:ext cx="3108960" cy="402336"/>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classic-payment-to-flagged</a:t>
            </a:r>
          </a:p>
        </p:txBody>
      </p:sp>
      <p:sp>
        <p:nvSpPr>
          <p:cNvPr id="11" name="TextBox 10"/>
          <p:cNvSpPr txBox="1"/>
          <p:nvPr/>
        </p:nvSpPr>
        <p:spPr>
          <a:xfrm>
            <a:off x="8074152" y="275234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SCREEN</a:t>
            </a:r>
          </a:p>
        </p:txBody>
      </p:sp>
      <p:sp>
        <p:nvSpPr>
          <p:cNvPr id="12" name="TextBox 11"/>
          <p:cNvSpPr txBox="1"/>
          <p:nvPr/>
        </p:nvSpPr>
        <p:spPr>
          <a:xfrm>
            <a:off x="8074152" y="2953512"/>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flagged · Scam · 4 reports · Active</a:t>
            </a:r>
          </a:p>
        </p:txBody>
      </p:sp>
      <p:sp>
        <p:nvSpPr>
          <p:cNvPr id="13" name="TextBox 12"/>
          <p:cNvSpPr txBox="1"/>
          <p:nvPr/>
        </p:nvSpPr>
        <p:spPr>
          <a:xfrm>
            <a:off x="8074152" y="3291840"/>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REGISTRY</a:t>
            </a:r>
          </a:p>
        </p:txBody>
      </p:sp>
      <p:sp>
        <p:nvSpPr>
          <p:cNvPr id="14" name="TextBox 13"/>
          <p:cNvSpPr txBox="1"/>
          <p:nvPr/>
        </p:nvSpPr>
        <p:spPr>
          <a:xfrm>
            <a:off x="8074152" y="3493008"/>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CBJWD6SAQ3OGLDKMQROSWVJGW6…</a:t>
            </a:r>
          </a:p>
        </p:txBody>
      </p:sp>
      <p:sp>
        <p:nvSpPr>
          <p:cNvPr id="15" name="TextBox 14"/>
          <p:cNvSpPr txBox="1"/>
          <p:nvPr/>
        </p:nvSpPr>
        <p:spPr>
          <a:xfrm>
            <a:off x="8074152" y="3831336"/>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VERDICT</a:t>
            </a:r>
          </a:p>
        </p:txBody>
      </p:sp>
      <p:sp>
        <p:nvSpPr>
          <p:cNvPr id="16" name="TextBox 15"/>
          <p:cNvSpPr txBox="1"/>
          <p:nvPr/>
        </p:nvSpPr>
        <p:spPr>
          <a:xfrm>
            <a:off x="8074152" y="4032504"/>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HIGH · BLOCK_CONFIRM</a:t>
            </a:r>
          </a:p>
        </p:txBody>
      </p:sp>
      <p:sp>
        <p:nvSpPr>
          <p:cNvPr id="17" name="Rectangle 16"/>
          <p:cNvSpPr/>
          <p:nvPr/>
        </p:nvSpPr>
        <p:spPr>
          <a:xfrm>
            <a:off x="8074152" y="4425696"/>
            <a:ext cx="640080" cy="1828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74152" y="4572000"/>
            <a:ext cx="3108960" cy="1188720"/>
          </a:xfrm>
          <a:prstGeom prst="rect">
            <a:avLst/>
          </a:prstGeom>
          <a:noFill/>
        </p:spPr>
        <p:txBody>
          <a:bodyPr wrap="square" lIns="0" rIns="0" tIns="0" bIns="0">
            <a:spAutoFit/>
          </a:bodyPr>
          <a:lstStyle/>
          <a:p>
            <a:pPr algn="l">
              <a:lnSpc>
                <a:spcPct val="130000"/>
              </a:lnSpc>
              <a:spcAft>
                <a:spcPts val="600"/>
              </a:spcAft>
            </a:pPr>
            <a:r>
              <a:rPr sz="1000" b="0">
                <a:solidFill>
                  <a:srgbClr val="9AA4BF"/>
                </a:solidFill>
                <a:latin typeface="Segoe UI"/>
              </a:rPr>
              <a:t>The payment goes to the address reported in Deliverable 1. The scanner reads the live registry entry — reason, reporter, count — and the explorer row underneath is that same report (→ 4). This is the D1 → D2 coupling.</a:t>
            </a:r>
          </a:p>
        </p:txBody>
      </p:sp>
      <p:sp>
        <p:nvSpPr>
          <p:cNvPr id="19" name="TextBox 18"/>
          <p:cNvSpPr txBox="1"/>
          <p:nvPr/>
        </p:nvSpPr>
        <p:spPr>
          <a:xfrm>
            <a:off x="731520" y="6355080"/>
            <a:ext cx="8229600" cy="274320"/>
          </a:xfrm>
          <a:prstGeom prst="rect">
            <a:avLst/>
          </a:prstGeom>
          <a:noFill/>
        </p:spPr>
        <p:txBody>
          <a:bodyPr wrap="square" lIns="0" rIns="0" tIns="0" bIns="0">
            <a:spAutoFit/>
          </a:bodyPr>
          <a:lstStyle/>
          <a:p>
            <a:pPr algn="l">
              <a:lnSpc>
                <a:spcPct val="115000"/>
              </a:lnSpc>
              <a:spcAft>
                <a:spcPts val="600"/>
              </a:spcAft>
            </a:pPr>
            <a:r>
              <a:rPr sz="950" b="0">
                <a:solidFill>
                  <a:srgbClr val="9AA4BF"/>
                </a:solidFill>
                <a:latin typeface="Segoe UI"/>
              </a:rPr>
              <a:t>Lantern · Instawards Deliverable 2</a:t>
            </a:r>
          </a:p>
        </p:txBody>
      </p:sp>
      <p:sp>
        <p:nvSpPr>
          <p:cNvPr id="20" name="TextBox 19"/>
          <p:cNvSpPr txBox="1"/>
          <p:nvPr/>
        </p:nvSpPr>
        <p:spPr>
          <a:xfrm>
            <a:off x="10424160" y="6355080"/>
            <a:ext cx="1005840" cy="274320"/>
          </a:xfrm>
          <a:prstGeom prst="rect">
            <a:avLst/>
          </a:prstGeom>
          <a:noFill/>
        </p:spPr>
        <p:txBody>
          <a:bodyPr wrap="square" lIns="0" rIns="0" tIns="0" bIns="0">
            <a:spAutoFit/>
          </a:bodyPr>
          <a:lstStyle/>
          <a:p>
            <a:pPr algn="r">
              <a:lnSpc>
                <a:spcPct val="115000"/>
              </a:lnSpc>
              <a:spcAft>
                <a:spcPts val="600"/>
              </a:spcAft>
            </a:pPr>
            <a:r>
              <a:rPr sz="950" b="0">
                <a:solidFill>
                  <a:srgbClr val="9AA4BF"/>
                </a:solidFill>
                <a:latin typeface="Segoe UI"/>
              </a:rPr>
              <a:t>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74320"/>
          </a:xfrm>
          <a:prstGeom prst="rect">
            <a:avLst/>
          </a:prstGeom>
          <a:noFill/>
        </p:spPr>
        <p:txBody>
          <a:bodyPr wrap="square" lIns="0" rIns="0" tIns="0" bIns="0">
            <a:spAutoFit/>
          </a:bodyPr>
          <a:lstStyle/>
          <a:p>
            <a:pPr algn="l">
              <a:lnSpc>
                <a:spcPct val="115000"/>
              </a:lnSpc>
              <a:spcAft>
                <a:spcPts val="600"/>
              </a:spcAft>
            </a:pPr>
            <a:r>
              <a:rPr sz="1150" b="1">
                <a:solidFill>
                  <a:srgbClr val="FFC107"/>
                </a:solidFill>
                <a:latin typeface="Segoe UI"/>
              </a:rPr>
              <a:t>PROOF · 6 OF 6</a:t>
            </a:r>
          </a:p>
        </p:txBody>
      </p:sp>
      <p:sp>
        <p:nvSpPr>
          <p:cNvPr id="4" name="TextBox 3"/>
          <p:cNvSpPr txBox="1"/>
          <p:nvPr/>
        </p:nvSpPr>
        <p:spPr>
          <a:xfrm>
            <a:off x="731520" y="786384"/>
            <a:ext cx="10698480" cy="640080"/>
          </a:xfrm>
          <a:prstGeom prst="rect">
            <a:avLst/>
          </a:prstGeom>
          <a:noFill/>
        </p:spPr>
        <p:txBody>
          <a:bodyPr wrap="square" lIns="0" rIns="0" tIns="0" bIns="0">
            <a:spAutoFit/>
          </a:bodyPr>
          <a:lstStyle/>
          <a:p>
            <a:pPr algn="l">
              <a:lnSpc>
                <a:spcPct val="115000"/>
              </a:lnSpc>
              <a:spcAft>
                <a:spcPts val="600"/>
              </a:spcAft>
            </a:pPr>
            <a:r>
              <a:rPr sz="3000" b="1">
                <a:solidFill>
                  <a:srgbClr val="E8EAF2"/>
                </a:solidFill>
                <a:latin typeface="Segoe UI"/>
              </a:rPr>
              <a:t>Fails closed</a:t>
            </a:r>
          </a:p>
        </p:txBody>
      </p:sp>
      <p:sp>
        <p:nvSpPr>
          <p:cNvPr id="5" name="Rectangle 4"/>
          <p:cNvSpPr/>
          <p:nvPr/>
        </p:nvSpPr>
        <p:spPr>
          <a:xfrm>
            <a:off x="731520" y="1481328"/>
            <a:ext cx="1280160" cy="3200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83080"/>
            <a:ext cx="685800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2_1_contract_page.png"/>
          <p:cNvPicPr>
            <a:picLocks noChangeAspect="1"/>
          </p:cNvPicPr>
          <p:nvPr/>
        </p:nvPicPr>
        <p:blipFill>
          <a:blip r:embed="rId3"/>
          <a:stretch>
            <a:fillRect/>
          </a:stretch>
        </p:blipFill>
        <p:spPr>
          <a:xfrm>
            <a:off x="1305763" y="1892808"/>
            <a:ext cx="5709513" cy="4078224"/>
          </a:xfrm>
          <a:prstGeom prst="rect">
            <a:avLst/>
          </a:prstGeom>
        </p:spPr>
      </p:pic>
      <p:sp>
        <p:nvSpPr>
          <p:cNvPr id="8" name="Rounded Rectangle 7"/>
          <p:cNvSpPr/>
          <p:nvPr/>
        </p:nvSpPr>
        <p:spPr>
          <a:xfrm>
            <a:off x="7818120" y="1783080"/>
            <a:ext cx="3611880" cy="42976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4152" y="202082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GARBAGE XDR</a:t>
            </a:r>
          </a:p>
        </p:txBody>
      </p:sp>
      <p:sp>
        <p:nvSpPr>
          <p:cNvPr id="10" name="TextBox 9"/>
          <p:cNvSpPr txBox="1"/>
          <p:nvPr/>
        </p:nvSpPr>
        <p:spPr>
          <a:xfrm>
            <a:off x="8074152" y="2221992"/>
            <a:ext cx="3108960" cy="402336"/>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undecodable → HIGH</a:t>
            </a:r>
          </a:p>
        </p:txBody>
      </p:sp>
      <p:sp>
        <p:nvSpPr>
          <p:cNvPr id="11" name="TextBox 10"/>
          <p:cNvSpPr txBox="1"/>
          <p:nvPr/>
        </p:nvSpPr>
        <p:spPr>
          <a:xfrm>
            <a:off x="8074152" y="2752344"/>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RPC DOWN</a:t>
            </a:r>
          </a:p>
        </p:txBody>
      </p:sp>
      <p:sp>
        <p:nvSpPr>
          <p:cNvPr id="12" name="TextBox 11"/>
          <p:cNvSpPr txBox="1"/>
          <p:nvPr/>
        </p:nvSpPr>
        <p:spPr>
          <a:xfrm>
            <a:off x="8074152" y="2953512"/>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rpc_unreachable → HIGH</a:t>
            </a:r>
          </a:p>
        </p:txBody>
      </p:sp>
      <p:sp>
        <p:nvSpPr>
          <p:cNvPr id="13" name="TextBox 12"/>
          <p:cNvSpPr txBox="1"/>
          <p:nvPr/>
        </p:nvSpPr>
        <p:spPr>
          <a:xfrm>
            <a:off x="8074152" y="3291840"/>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REGISTRY DOWN</a:t>
            </a:r>
          </a:p>
        </p:txBody>
      </p:sp>
      <p:sp>
        <p:nvSpPr>
          <p:cNvPr id="14" name="TextBox 13"/>
          <p:cNvSpPr txBox="1"/>
          <p:nvPr/>
        </p:nvSpPr>
        <p:spPr>
          <a:xfrm>
            <a:off x="8074152" y="3493008"/>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screen_unknown → MEDIUM</a:t>
            </a:r>
          </a:p>
        </p:txBody>
      </p:sp>
      <p:sp>
        <p:nvSpPr>
          <p:cNvPr id="15" name="TextBox 14"/>
          <p:cNvSpPr txBox="1"/>
          <p:nvPr/>
        </p:nvSpPr>
        <p:spPr>
          <a:xfrm>
            <a:off x="8074152" y="3831336"/>
            <a:ext cx="3108960" cy="182880"/>
          </a:xfrm>
          <a:prstGeom prst="rect">
            <a:avLst/>
          </a:prstGeom>
          <a:noFill/>
        </p:spPr>
        <p:txBody>
          <a:bodyPr wrap="square" lIns="0" rIns="0" tIns="0" bIns="0">
            <a:spAutoFit/>
          </a:bodyPr>
          <a:lstStyle/>
          <a:p>
            <a:pPr algn="l">
              <a:lnSpc>
                <a:spcPct val="115000"/>
              </a:lnSpc>
              <a:spcAft>
                <a:spcPts val="600"/>
              </a:spcAft>
            </a:pPr>
            <a:r>
              <a:rPr sz="850" b="1">
                <a:solidFill>
                  <a:srgbClr val="FFC107"/>
                </a:solidFill>
                <a:latin typeface="Segoe UI"/>
              </a:rPr>
              <a:t>NEVER</a:t>
            </a:r>
          </a:p>
        </p:txBody>
      </p:sp>
      <p:sp>
        <p:nvSpPr>
          <p:cNvPr id="16" name="TextBox 15"/>
          <p:cNvSpPr txBox="1"/>
          <p:nvPr/>
        </p:nvSpPr>
        <p:spPr>
          <a:xfrm>
            <a:off x="8074152" y="4032504"/>
            <a:ext cx="3108960" cy="201168"/>
          </a:xfrm>
          <a:prstGeom prst="rect">
            <a:avLst/>
          </a:prstGeom>
          <a:noFill/>
        </p:spPr>
        <p:txBody>
          <a:bodyPr wrap="square" lIns="0" rIns="0" tIns="0" bIns="0">
            <a:spAutoFit/>
          </a:bodyPr>
          <a:lstStyle/>
          <a:p>
            <a:pPr algn="l">
              <a:lnSpc>
                <a:spcPct val="110000"/>
              </a:lnSpc>
              <a:spcAft>
                <a:spcPts val="600"/>
              </a:spcAft>
            </a:pPr>
            <a:r>
              <a:rPr sz="1100" b="0">
                <a:solidFill>
                  <a:srgbClr val="E8EAF2"/>
                </a:solidFill>
                <a:latin typeface="Segoe UI"/>
              </a:rPr>
              <a:t>a silent “clean”</a:t>
            </a:r>
          </a:p>
        </p:txBody>
      </p:sp>
      <p:sp>
        <p:nvSpPr>
          <p:cNvPr id="17" name="Rectangle 16"/>
          <p:cNvSpPr/>
          <p:nvPr/>
        </p:nvSpPr>
        <p:spPr>
          <a:xfrm>
            <a:off x="8074152" y="4425696"/>
            <a:ext cx="640080" cy="1828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74152" y="4572000"/>
            <a:ext cx="3108960" cy="1188720"/>
          </a:xfrm>
          <a:prstGeom prst="rect">
            <a:avLst/>
          </a:prstGeom>
          <a:noFill/>
        </p:spPr>
        <p:txBody>
          <a:bodyPr wrap="square" lIns="0" rIns="0" tIns="0" bIns="0">
            <a:spAutoFit/>
          </a:bodyPr>
          <a:lstStyle/>
          <a:p>
            <a:pPr algn="l">
              <a:lnSpc>
                <a:spcPct val="130000"/>
              </a:lnSpc>
              <a:spcAft>
                <a:spcPts val="600"/>
              </a:spcAft>
            </a:pPr>
            <a:r>
              <a:rPr sz="1000" b="0">
                <a:solidFill>
                  <a:srgbClr val="9AA4BF"/>
                </a:solidFill>
                <a:latin typeface="Segoe UI"/>
              </a:rPr>
              <a:t>Three ways the world can break, three honest answers. An unreadable transaction, an unreachable simulator and an unreachable registry each come back as a warning with the cause named — the scanner never says safe when it does not know.</a:t>
            </a:r>
          </a:p>
        </p:txBody>
      </p:sp>
      <p:sp>
        <p:nvSpPr>
          <p:cNvPr id="19" name="TextBox 18"/>
          <p:cNvSpPr txBox="1"/>
          <p:nvPr/>
        </p:nvSpPr>
        <p:spPr>
          <a:xfrm>
            <a:off x="731520" y="6355080"/>
            <a:ext cx="8229600" cy="274320"/>
          </a:xfrm>
          <a:prstGeom prst="rect">
            <a:avLst/>
          </a:prstGeom>
          <a:noFill/>
        </p:spPr>
        <p:txBody>
          <a:bodyPr wrap="square" lIns="0" rIns="0" tIns="0" bIns="0">
            <a:spAutoFit/>
          </a:bodyPr>
          <a:lstStyle/>
          <a:p>
            <a:pPr algn="l">
              <a:lnSpc>
                <a:spcPct val="115000"/>
              </a:lnSpc>
              <a:spcAft>
                <a:spcPts val="600"/>
              </a:spcAft>
            </a:pPr>
            <a:r>
              <a:rPr sz="950" b="0">
                <a:solidFill>
                  <a:srgbClr val="9AA4BF"/>
                </a:solidFill>
                <a:latin typeface="Segoe UI"/>
              </a:rPr>
              <a:t>Lantern · Instawards Deliverable 2</a:t>
            </a:r>
          </a:p>
        </p:txBody>
      </p:sp>
      <p:sp>
        <p:nvSpPr>
          <p:cNvPr id="20" name="TextBox 19"/>
          <p:cNvSpPr txBox="1"/>
          <p:nvPr/>
        </p:nvSpPr>
        <p:spPr>
          <a:xfrm>
            <a:off x="10424160" y="6355080"/>
            <a:ext cx="1005840" cy="274320"/>
          </a:xfrm>
          <a:prstGeom prst="rect">
            <a:avLst/>
          </a:prstGeom>
          <a:noFill/>
        </p:spPr>
        <p:txBody>
          <a:bodyPr wrap="square" lIns="0" rIns="0" tIns="0" bIns="0">
            <a:spAutoFit/>
          </a:bodyPr>
          <a:lstStyle/>
          <a:p>
            <a:pPr algn="r">
              <a:lnSpc>
                <a:spcPct val="115000"/>
              </a:lnSpc>
              <a:spcAft>
                <a:spcPts val="600"/>
              </a:spcAft>
            </a:pPr>
            <a:r>
              <a:rPr sz="950" b="0">
                <a:solidFill>
                  <a:srgbClr val="9AA4BF"/>
                </a:solidFill>
                <a:latin typeface="Segoe UI"/>
              </a:rPr>
              <a:t>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74320"/>
          </a:xfrm>
          <a:prstGeom prst="rect">
            <a:avLst/>
          </a:prstGeom>
          <a:noFill/>
        </p:spPr>
        <p:txBody>
          <a:bodyPr wrap="square" lIns="0" rIns="0" tIns="0" bIns="0">
            <a:spAutoFit/>
          </a:bodyPr>
          <a:lstStyle/>
          <a:p>
            <a:pPr algn="l">
              <a:lnSpc>
                <a:spcPct val="115000"/>
              </a:lnSpc>
              <a:spcAft>
                <a:spcPts val="600"/>
              </a:spcAft>
            </a:pPr>
            <a:r>
              <a:rPr sz="1150" b="1">
                <a:solidFill>
                  <a:srgbClr val="FFC107"/>
                </a:solidFill>
                <a:latin typeface="Segoe UI"/>
              </a:rPr>
              <a:t>THE INVARIANT</a:t>
            </a:r>
          </a:p>
        </p:txBody>
      </p:sp>
      <p:sp>
        <p:nvSpPr>
          <p:cNvPr id="4" name="TextBox 3"/>
          <p:cNvSpPr txBox="1"/>
          <p:nvPr/>
        </p:nvSpPr>
        <p:spPr>
          <a:xfrm>
            <a:off x="731520" y="786384"/>
            <a:ext cx="10698480" cy="640080"/>
          </a:xfrm>
          <a:prstGeom prst="rect">
            <a:avLst/>
          </a:prstGeom>
          <a:noFill/>
        </p:spPr>
        <p:txBody>
          <a:bodyPr wrap="square" lIns="0" rIns="0" tIns="0" bIns="0">
            <a:spAutoFit/>
          </a:bodyPr>
          <a:lstStyle/>
          <a:p>
            <a:pPr algn="l">
              <a:lnSpc>
                <a:spcPct val="115000"/>
              </a:lnSpc>
              <a:spcAft>
                <a:spcPts val="600"/>
              </a:spcAft>
            </a:pPr>
            <a:r>
              <a:rPr sz="3000" b="1">
                <a:solidFill>
                  <a:srgbClr val="E8EAF2"/>
                </a:solidFill>
                <a:latin typeface="Segoe UI"/>
              </a:rPr>
              <a:t>The AI cannot move the verdict — proven offline</a:t>
            </a:r>
          </a:p>
        </p:txBody>
      </p:sp>
      <p:sp>
        <p:nvSpPr>
          <p:cNvPr id="5" name="Rectangle 4"/>
          <p:cNvSpPr/>
          <p:nvPr/>
        </p:nvSpPr>
        <p:spPr>
          <a:xfrm>
            <a:off x="731520" y="1481328"/>
            <a:ext cx="1280160" cy="32004"/>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2084831" cy="114300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737360" cy="457200"/>
          </a:xfrm>
          <a:prstGeom prst="rect">
            <a:avLst/>
          </a:prstGeom>
          <a:noFill/>
        </p:spPr>
        <p:txBody>
          <a:bodyPr wrap="square" lIns="0" rIns="0" tIns="0" bIns="0">
            <a:spAutoFit/>
          </a:bodyPr>
          <a:lstStyle/>
          <a:p>
            <a:pPr algn="l">
              <a:lnSpc>
                <a:spcPct val="115000"/>
              </a:lnSpc>
              <a:spcAft>
                <a:spcPts val="600"/>
              </a:spcAft>
            </a:pPr>
            <a:r>
              <a:rPr sz="2600" b="1">
                <a:solidFill>
                  <a:srgbClr val="FFC107"/>
                </a:solidFill>
                <a:latin typeface="Segoe UI"/>
              </a:rPr>
              <a:t>748</a:t>
            </a:r>
          </a:p>
        </p:txBody>
      </p:sp>
      <p:sp>
        <p:nvSpPr>
          <p:cNvPr id="8" name="TextBox 7"/>
          <p:cNvSpPr txBox="1"/>
          <p:nvPr/>
        </p:nvSpPr>
        <p:spPr>
          <a:xfrm>
            <a:off x="914400" y="2514600"/>
            <a:ext cx="1783080" cy="365760"/>
          </a:xfrm>
          <a:prstGeom prst="rect">
            <a:avLst/>
          </a:prstGeom>
          <a:noFill/>
        </p:spPr>
        <p:txBody>
          <a:bodyPr wrap="square" lIns="0" rIns="0" tIns="0" bIns="0">
            <a:spAutoFit/>
          </a:bodyPr>
          <a:lstStyle/>
          <a:p>
            <a:pPr algn="l">
              <a:lnSpc>
                <a:spcPct val="120000"/>
              </a:lnSpc>
              <a:spcAft>
                <a:spcPts val="600"/>
              </a:spcAft>
            </a:pPr>
            <a:r>
              <a:rPr sz="1000" b="0">
                <a:solidFill>
                  <a:srgbClr val="9AA4BF"/>
                </a:solidFill>
                <a:latin typeface="Segoe UI"/>
              </a:rPr>
              <a:t>tests passed, network off</a:t>
            </a:r>
          </a:p>
        </p:txBody>
      </p:sp>
      <p:sp>
        <p:nvSpPr>
          <p:cNvPr id="9" name="Rounded Rectangle 8"/>
          <p:cNvSpPr/>
          <p:nvPr/>
        </p:nvSpPr>
        <p:spPr>
          <a:xfrm>
            <a:off x="2907792" y="1828800"/>
            <a:ext cx="2084831" cy="114300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90672" y="2011680"/>
            <a:ext cx="1737360" cy="457200"/>
          </a:xfrm>
          <a:prstGeom prst="rect">
            <a:avLst/>
          </a:prstGeom>
          <a:noFill/>
        </p:spPr>
        <p:txBody>
          <a:bodyPr wrap="square" lIns="0" rIns="0" tIns="0" bIns="0">
            <a:spAutoFit/>
          </a:bodyPr>
          <a:lstStyle/>
          <a:p>
            <a:pPr algn="l">
              <a:lnSpc>
                <a:spcPct val="115000"/>
              </a:lnSpc>
              <a:spcAft>
                <a:spcPts val="600"/>
              </a:spcAft>
            </a:pPr>
            <a:r>
              <a:rPr sz="2600" b="1">
                <a:solidFill>
                  <a:srgbClr val="FFC107"/>
                </a:solidFill>
                <a:latin typeface="Segoe UI"/>
              </a:rPr>
              <a:t>67</a:t>
            </a:r>
          </a:p>
        </p:txBody>
      </p:sp>
      <p:sp>
        <p:nvSpPr>
          <p:cNvPr id="11" name="TextBox 10"/>
          <p:cNvSpPr txBox="1"/>
          <p:nvPr/>
        </p:nvSpPr>
        <p:spPr>
          <a:xfrm>
            <a:off x="3090672" y="2514600"/>
            <a:ext cx="1783080" cy="365760"/>
          </a:xfrm>
          <a:prstGeom prst="rect">
            <a:avLst/>
          </a:prstGeom>
          <a:noFill/>
        </p:spPr>
        <p:txBody>
          <a:bodyPr wrap="square" lIns="0" rIns="0" tIns="0" bIns="0">
            <a:spAutoFit/>
          </a:bodyPr>
          <a:lstStyle/>
          <a:p>
            <a:pPr algn="l">
              <a:lnSpc>
                <a:spcPct val="120000"/>
              </a:lnSpc>
              <a:spcAft>
                <a:spcPts val="600"/>
              </a:spcAft>
            </a:pPr>
            <a:r>
              <a:rPr sz="1000" b="0">
                <a:solidFill>
                  <a:srgbClr val="9AA4BF"/>
                </a:solidFill>
                <a:latin typeface="Segoe UI"/>
              </a:rPr>
              <a:t>test files, all offline</a:t>
            </a:r>
          </a:p>
        </p:txBody>
      </p:sp>
      <p:sp>
        <p:nvSpPr>
          <p:cNvPr id="12" name="Rounded Rectangle 11"/>
          <p:cNvSpPr/>
          <p:nvPr/>
        </p:nvSpPr>
        <p:spPr>
          <a:xfrm>
            <a:off x="5084064" y="1828800"/>
            <a:ext cx="2084831" cy="114300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66944" y="2011680"/>
            <a:ext cx="1737360" cy="457200"/>
          </a:xfrm>
          <a:prstGeom prst="rect">
            <a:avLst/>
          </a:prstGeom>
          <a:noFill/>
        </p:spPr>
        <p:txBody>
          <a:bodyPr wrap="square" lIns="0" rIns="0" tIns="0" bIns="0">
            <a:spAutoFit/>
          </a:bodyPr>
          <a:lstStyle/>
          <a:p>
            <a:pPr algn="l">
              <a:lnSpc>
                <a:spcPct val="115000"/>
              </a:lnSpc>
              <a:spcAft>
                <a:spcPts val="600"/>
              </a:spcAft>
            </a:pPr>
            <a:r>
              <a:rPr sz="2600" b="1">
                <a:solidFill>
                  <a:srgbClr val="FFC107"/>
                </a:solidFill>
                <a:latin typeface="Segoe UI"/>
              </a:rPr>
              <a:t>19</a:t>
            </a:r>
          </a:p>
        </p:txBody>
      </p:sp>
      <p:sp>
        <p:nvSpPr>
          <p:cNvPr id="14" name="TextBox 13"/>
          <p:cNvSpPr txBox="1"/>
          <p:nvPr/>
        </p:nvSpPr>
        <p:spPr>
          <a:xfrm>
            <a:off x="5266944" y="2514600"/>
            <a:ext cx="1783080" cy="365760"/>
          </a:xfrm>
          <a:prstGeom prst="rect">
            <a:avLst/>
          </a:prstGeom>
          <a:noFill/>
        </p:spPr>
        <p:txBody>
          <a:bodyPr wrap="square" lIns="0" rIns="0" tIns="0" bIns="0">
            <a:spAutoFit/>
          </a:bodyPr>
          <a:lstStyle/>
          <a:p>
            <a:pPr algn="l">
              <a:lnSpc>
                <a:spcPct val="120000"/>
              </a:lnSpc>
              <a:spcAft>
                <a:spcPts val="600"/>
              </a:spcAft>
            </a:pPr>
            <a:r>
              <a:rPr sz="1000" b="0">
                <a:solidFill>
                  <a:srgbClr val="9AA4BF"/>
                </a:solidFill>
                <a:latin typeface="Segoe UI"/>
              </a:rPr>
              <a:t>recorded fixtures</a:t>
            </a:r>
          </a:p>
        </p:txBody>
      </p:sp>
      <p:sp>
        <p:nvSpPr>
          <p:cNvPr id="15" name="Rounded Rectangle 14"/>
          <p:cNvSpPr/>
          <p:nvPr/>
        </p:nvSpPr>
        <p:spPr>
          <a:xfrm>
            <a:off x="7260336" y="1828800"/>
            <a:ext cx="2084831" cy="114300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43216" y="2011680"/>
            <a:ext cx="1737360" cy="457200"/>
          </a:xfrm>
          <a:prstGeom prst="rect">
            <a:avLst/>
          </a:prstGeom>
          <a:noFill/>
        </p:spPr>
        <p:txBody>
          <a:bodyPr wrap="square" lIns="0" rIns="0" tIns="0" bIns="0">
            <a:spAutoFit/>
          </a:bodyPr>
          <a:lstStyle/>
          <a:p>
            <a:pPr algn="l">
              <a:lnSpc>
                <a:spcPct val="115000"/>
              </a:lnSpc>
              <a:spcAft>
                <a:spcPts val="600"/>
              </a:spcAft>
            </a:pPr>
            <a:r>
              <a:rPr sz="2600" b="1">
                <a:solidFill>
                  <a:srgbClr val="FFC107"/>
                </a:solidFill>
                <a:latin typeface="Segoe UI"/>
              </a:rPr>
              <a:t>0</a:t>
            </a:r>
          </a:p>
        </p:txBody>
      </p:sp>
      <p:sp>
        <p:nvSpPr>
          <p:cNvPr id="17" name="TextBox 16"/>
          <p:cNvSpPr txBox="1"/>
          <p:nvPr/>
        </p:nvSpPr>
        <p:spPr>
          <a:xfrm>
            <a:off x="7443216" y="2514600"/>
            <a:ext cx="1783080" cy="365760"/>
          </a:xfrm>
          <a:prstGeom prst="rect">
            <a:avLst/>
          </a:prstGeom>
          <a:noFill/>
        </p:spPr>
        <p:txBody>
          <a:bodyPr wrap="square" lIns="0" rIns="0" tIns="0" bIns="0">
            <a:spAutoFit/>
          </a:bodyPr>
          <a:lstStyle/>
          <a:p>
            <a:pPr algn="l">
              <a:lnSpc>
                <a:spcPct val="120000"/>
              </a:lnSpc>
              <a:spcAft>
                <a:spcPts val="600"/>
              </a:spcAft>
            </a:pPr>
            <a:r>
              <a:rPr sz="1000" b="0">
                <a:solidFill>
                  <a:srgbClr val="9AA4BF"/>
                </a:solidFill>
                <a:latin typeface="Segoe UI"/>
              </a:rPr>
              <a:t>secrets in CI</a:t>
            </a:r>
          </a:p>
        </p:txBody>
      </p:sp>
      <p:sp>
        <p:nvSpPr>
          <p:cNvPr id="18" name="Rounded Rectangle 17"/>
          <p:cNvSpPr/>
          <p:nvPr/>
        </p:nvSpPr>
        <p:spPr>
          <a:xfrm>
            <a:off x="9436608" y="1828800"/>
            <a:ext cx="2084831" cy="114300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19488" y="2011680"/>
            <a:ext cx="1737360" cy="457200"/>
          </a:xfrm>
          <a:prstGeom prst="rect">
            <a:avLst/>
          </a:prstGeom>
          <a:noFill/>
        </p:spPr>
        <p:txBody>
          <a:bodyPr wrap="square" lIns="0" rIns="0" tIns="0" bIns="0">
            <a:spAutoFit/>
          </a:bodyPr>
          <a:lstStyle/>
          <a:p>
            <a:pPr algn="l">
              <a:lnSpc>
                <a:spcPct val="115000"/>
              </a:lnSpc>
              <a:spcAft>
                <a:spcPts val="600"/>
              </a:spcAft>
            </a:pPr>
            <a:r>
              <a:rPr sz="2600" b="1">
                <a:solidFill>
                  <a:srgbClr val="FFC107"/>
                </a:solidFill>
                <a:latin typeface="Segoe UI"/>
              </a:rPr>
              <a:t>3</a:t>
            </a:r>
          </a:p>
        </p:txBody>
      </p:sp>
      <p:sp>
        <p:nvSpPr>
          <p:cNvPr id="20" name="TextBox 19"/>
          <p:cNvSpPr txBox="1"/>
          <p:nvPr/>
        </p:nvSpPr>
        <p:spPr>
          <a:xfrm>
            <a:off x="9619488" y="2514600"/>
            <a:ext cx="1783080" cy="365760"/>
          </a:xfrm>
          <a:prstGeom prst="rect">
            <a:avLst/>
          </a:prstGeom>
          <a:noFill/>
        </p:spPr>
        <p:txBody>
          <a:bodyPr wrap="square" lIns="0" rIns="0" tIns="0" bIns="0">
            <a:spAutoFit/>
          </a:bodyPr>
          <a:lstStyle/>
          <a:p>
            <a:pPr algn="l">
              <a:lnSpc>
                <a:spcPct val="120000"/>
              </a:lnSpc>
              <a:spcAft>
                <a:spcPts val="600"/>
              </a:spcAft>
            </a:pPr>
            <a:r>
              <a:rPr sz="1000" b="0">
                <a:solidFill>
                  <a:srgbClr val="9AA4BF"/>
                </a:solidFill>
                <a:latin typeface="Segoe UI"/>
              </a:rPr>
              <a:t>hard blockers green</a:t>
            </a:r>
          </a:p>
        </p:txBody>
      </p:sp>
      <p:sp>
        <p:nvSpPr>
          <p:cNvPr id="21" name="Rounded Rectangle 20"/>
          <p:cNvSpPr/>
          <p:nvPr/>
        </p:nvSpPr>
        <p:spPr>
          <a:xfrm>
            <a:off x="731520" y="3154680"/>
            <a:ext cx="10716768" cy="2926080"/>
          </a:xfrm>
          <a:prstGeom prst="roundRect">
            <a:avLst>
              <a:gd name="adj" fmla="val 4000"/>
            </a:avLst>
          </a:prstGeom>
          <a:solidFill>
            <a:srgbClr val="17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364992"/>
            <a:ext cx="10058400" cy="274320"/>
          </a:xfrm>
          <a:prstGeom prst="rect">
            <a:avLst/>
          </a:prstGeom>
          <a:noFill/>
        </p:spPr>
        <p:txBody>
          <a:bodyPr wrap="square" lIns="0" rIns="0" tIns="0" bIns="0">
            <a:spAutoFit/>
          </a:bodyPr>
          <a:lstStyle/>
          <a:p>
            <a:pPr algn="l">
              <a:lnSpc>
                <a:spcPct val="115000"/>
              </a:lnSpc>
              <a:spcAft>
                <a:spcPts val="600"/>
              </a:spcAft>
            </a:pPr>
            <a:r>
              <a:rPr sz="950" b="1">
                <a:solidFill>
                  <a:srgbClr val="FFC107"/>
                </a:solidFill>
                <a:latin typeface="Segoe UI"/>
              </a:rPr>
              <a:t>WHAT THE TESTS ASSERT (ROOT SUITE, COMMIT 73d5b34; FULL RUN LINKED IN PACK 2)</a:t>
            </a:r>
          </a:p>
        </p:txBody>
      </p:sp>
      <p:sp>
        <p:nvSpPr>
          <p:cNvPr id="23" name="TextBox 22"/>
          <p:cNvSpPr txBox="1"/>
          <p:nvPr/>
        </p:nvSpPr>
        <p:spPr>
          <a:xfrm>
            <a:off x="1005840" y="3703320"/>
            <a:ext cx="2011680" cy="228600"/>
          </a:xfrm>
          <a:prstGeom prst="rect">
            <a:avLst/>
          </a:prstGeom>
          <a:noFill/>
        </p:spPr>
        <p:txBody>
          <a:bodyPr wrap="square" lIns="0" rIns="0" tIns="0" bIns="0">
            <a:spAutoFit/>
          </a:bodyPr>
          <a:lstStyle/>
          <a:p>
            <a:pPr algn="l">
              <a:lnSpc>
                <a:spcPct val="115000"/>
              </a:lnSpc>
              <a:spcAft>
                <a:spcPts val="600"/>
              </a:spcAft>
            </a:pPr>
            <a:r>
              <a:rPr sz="900" b="1">
                <a:solidFill>
                  <a:srgbClr val="9AA4BF"/>
                </a:solidFill>
                <a:latin typeface="Segoe UI"/>
              </a:rPr>
              <a:t>TEST FILE</a:t>
            </a:r>
          </a:p>
        </p:txBody>
      </p:sp>
      <p:sp>
        <p:nvSpPr>
          <p:cNvPr id="24" name="TextBox 23"/>
          <p:cNvSpPr txBox="1"/>
          <p:nvPr/>
        </p:nvSpPr>
        <p:spPr>
          <a:xfrm>
            <a:off x="3200400" y="3703320"/>
            <a:ext cx="5852160" cy="228600"/>
          </a:xfrm>
          <a:prstGeom prst="rect">
            <a:avLst/>
          </a:prstGeom>
          <a:noFill/>
        </p:spPr>
        <p:txBody>
          <a:bodyPr wrap="square" lIns="0" rIns="0" tIns="0" bIns="0">
            <a:spAutoFit/>
          </a:bodyPr>
          <a:lstStyle/>
          <a:p>
            <a:pPr algn="l">
              <a:lnSpc>
                <a:spcPct val="115000"/>
              </a:lnSpc>
              <a:spcAft>
                <a:spcPts val="600"/>
              </a:spcAft>
            </a:pPr>
            <a:r>
              <a:rPr sz="900" b="1">
                <a:solidFill>
                  <a:srgbClr val="9AA4BF"/>
                </a:solidFill>
                <a:latin typeface="Segoe UI"/>
              </a:rPr>
              <a:t>WHAT IT PROVES</a:t>
            </a:r>
          </a:p>
        </p:txBody>
      </p:sp>
      <p:sp>
        <p:nvSpPr>
          <p:cNvPr id="25" name="TextBox 24"/>
          <p:cNvSpPr txBox="1"/>
          <p:nvPr/>
        </p:nvSpPr>
        <p:spPr>
          <a:xfrm>
            <a:off x="9692640" y="3703320"/>
            <a:ext cx="1463040" cy="228600"/>
          </a:xfrm>
          <a:prstGeom prst="rect">
            <a:avLst/>
          </a:prstGeom>
          <a:noFill/>
        </p:spPr>
        <p:txBody>
          <a:bodyPr wrap="square" lIns="0" rIns="0" tIns="0" bIns="0">
            <a:spAutoFit/>
          </a:bodyPr>
          <a:lstStyle/>
          <a:p>
            <a:pPr algn="l">
              <a:lnSpc>
                <a:spcPct val="115000"/>
              </a:lnSpc>
              <a:spcAft>
                <a:spcPts val="600"/>
              </a:spcAft>
            </a:pPr>
            <a:r>
              <a:rPr sz="900" b="1">
                <a:solidFill>
                  <a:srgbClr val="9AA4BF"/>
                </a:solidFill>
                <a:latin typeface="Segoe UI"/>
              </a:rPr>
              <a:t>RESULT</a:t>
            </a:r>
          </a:p>
        </p:txBody>
      </p:sp>
      <p:sp>
        <p:nvSpPr>
          <p:cNvPr id="26" name="TextBox 25"/>
          <p:cNvSpPr txBox="1"/>
          <p:nvPr/>
        </p:nvSpPr>
        <p:spPr>
          <a:xfrm>
            <a:off x="1005840" y="3995928"/>
            <a:ext cx="2103120" cy="228600"/>
          </a:xfrm>
          <a:prstGeom prst="rect">
            <a:avLst/>
          </a:prstGeom>
          <a:noFill/>
        </p:spPr>
        <p:txBody>
          <a:bodyPr wrap="square" lIns="0" rIns="0" tIns="0" bIns="0">
            <a:spAutoFit/>
          </a:bodyPr>
          <a:lstStyle/>
          <a:p>
            <a:pPr algn="l">
              <a:lnSpc>
                <a:spcPct val="115000"/>
              </a:lnSpc>
              <a:spcAft>
                <a:spcPts val="600"/>
              </a:spcAft>
            </a:pPr>
            <a:r>
              <a:rPr sz="1050" b="0">
                <a:solidFill>
                  <a:srgbClr val="FFE4AF"/>
                </a:solidFill>
                <a:latin typeface="Consolas"/>
              </a:rPr>
              <a:t>scanner-explain</a:t>
            </a:r>
          </a:p>
        </p:txBody>
      </p:sp>
      <p:sp>
        <p:nvSpPr>
          <p:cNvPr id="27" name="TextBox 26"/>
          <p:cNvSpPr txBox="1"/>
          <p:nvPr/>
        </p:nvSpPr>
        <p:spPr>
          <a:xfrm>
            <a:off x="3200400" y="3995928"/>
            <a:ext cx="6400800" cy="228600"/>
          </a:xfrm>
          <a:prstGeom prst="rect">
            <a:avLst/>
          </a:prstGeom>
          <a:noFill/>
        </p:spPr>
        <p:txBody>
          <a:bodyPr wrap="square" lIns="0" rIns="0" tIns="0" bIns="0">
            <a:spAutoFit/>
          </a:bodyPr>
          <a:lstStyle/>
          <a:p>
            <a:pPr algn="l">
              <a:lnSpc>
                <a:spcPct val="115000"/>
              </a:lnSpc>
              <a:spcAft>
                <a:spcPts val="600"/>
              </a:spcAft>
            </a:pPr>
            <a:r>
              <a:rPr sz="1050" b="0">
                <a:solidFill>
                  <a:srgbClr val="E8EAF2"/>
                </a:solidFill>
                <a:latin typeface="Consolas"/>
              </a:rPr>
              <a:t>a model answering “completely safe” to a HIGH verdict changes nothing</a:t>
            </a:r>
          </a:p>
        </p:txBody>
      </p:sp>
      <p:sp>
        <p:nvSpPr>
          <p:cNvPr id="28" name="TextBox 27"/>
          <p:cNvSpPr txBox="1"/>
          <p:nvPr/>
        </p:nvSpPr>
        <p:spPr>
          <a:xfrm>
            <a:off x="9692640" y="3995928"/>
            <a:ext cx="1463040" cy="228600"/>
          </a:xfrm>
          <a:prstGeom prst="rect">
            <a:avLst/>
          </a:prstGeom>
          <a:noFill/>
        </p:spPr>
        <p:txBody>
          <a:bodyPr wrap="square" lIns="0" rIns="0" tIns="0" bIns="0">
            <a:spAutoFit/>
          </a:bodyPr>
          <a:lstStyle/>
          <a:p>
            <a:pPr algn="l">
              <a:lnSpc>
                <a:spcPct val="115000"/>
              </a:lnSpc>
              <a:spcAft>
                <a:spcPts val="600"/>
              </a:spcAft>
            </a:pPr>
            <a:r>
              <a:rPr sz="1050" b="0">
                <a:solidFill>
                  <a:srgbClr val="9AA4BF"/>
                </a:solidFill>
                <a:latin typeface="Segoe UI"/>
              </a:rPr>
              <a:t>pass</a:t>
            </a:r>
          </a:p>
        </p:txBody>
      </p:sp>
      <p:sp>
        <p:nvSpPr>
          <p:cNvPr id="29" name="TextBox 28"/>
          <p:cNvSpPr txBox="1"/>
          <p:nvPr/>
        </p:nvSpPr>
        <p:spPr>
          <a:xfrm>
            <a:off x="1005840" y="4288536"/>
            <a:ext cx="2103120" cy="228600"/>
          </a:xfrm>
          <a:prstGeom prst="rect">
            <a:avLst/>
          </a:prstGeom>
          <a:noFill/>
        </p:spPr>
        <p:txBody>
          <a:bodyPr wrap="square" lIns="0" rIns="0" tIns="0" bIns="0">
            <a:spAutoFit/>
          </a:bodyPr>
          <a:lstStyle/>
          <a:p>
            <a:pPr algn="l">
              <a:lnSpc>
                <a:spcPct val="115000"/>
              </a:lnSpc>
              <a:spcAft>
                <a:spcPts val="600"/>
              </a:spcAft>
            </a:pPr>
            <a:r>
              <a:rPr sz="1050" b="0">
                <a:solidFill>
                  <a:srgbClr val="FFE4AF"/>
                </a:solidFill>
                <a:latin typeface="Consolas"/>
              </a:rPr>
              <a:t>scanner-explain</a:t>
            </a:r>
          </a:p>
        </p:txBody>
      </p:sp>
      <p:sp>
        <p:nvSpPr>
          <p:cNvPr id="30" name="TextBox 29"/>
          <p:cNvSpPr txBox="1"/>
          <p:nvPr/>
        </p:nvSpPr>
        <p:spPr>
          <a:xfrm>
            <a:off x="3200400" y="4288536"/>
            <a:ext cx="6400800" cy="228600"/>
          </a:xfrm>
          <a:prstGeom prst="rect">
            <a:avLst/>
          </a:prstGeom>
          <a:noFill/>
        </p:spPr>
        <p:txBody>
          <a:bodyPr wrap="square" lIns="0" rIns="0" tIns="0" bIns="0">
            <a:spAutoFit/>
          </a:bodyPr>
          <a:lstStyle/>
          <a:p>
            <a:pPr algn="l">
              <a:lnSpc>
                <a:spcPct val="115000"/>
              </a:lnSpc>
              <a:spcAft>
                <a:spcPts val="600"/>
              </a:spcAft>
            </a:pPr>
            <a:r>
              <a:rPr sz="1050" b="0">
                <a:solidFill>
                  <a:srgbClr val="E8EAF2"/>
                </a:solidFill>
                <a:latin typeface="Consolas"/>
              </a:rPr>
              <a:t>a memo of “ignore previous instructions” never reaches the prompt</a:t>
            </a:r>
          </a:p>
        </p:txBody>
      </p:sp>
      <p:sp>
        <p:nvSpPr>
          <p:cNvPr id="31" name="TextBox 30"/>
          <p:cNvSpPr txBox="1"/>
          <p:nvPr/>
        </p:nvSpPr>
        <p:spPr>
          <a:xfrm>
            <a:off x="9692640" y="4288536"/>
            <a:ext cx="1463040" cy="228600"/>
          </a:xfrm>
          <a:prstGeom prst="rect">
            <a:avLst/>
          </a:prstGeom>
          <a:noFill/>
        </p:spPr>
        <p:txBody>
          <a:bodyPr wrap="square" lIns="0" rIns="0" tIns="0" bIns="0">
            <a:spAutoFit/>
          </a:bodyPr>
          <a:lstStyle/>
          <a:p>
            <a:pPr algn="l">
              <a:lnSpc>
                <a:spcPct val="115000"/>
              </a:lnSpc>
              <a:spcAft>
                <a:spcPts val="600"/>
              </a:spcAft>
            </a:pPr>
            <a:r>
              <a:rPr sz="1050" b="0">
                <a:solidFill>
                  <a:srgbClr val="9AA4BF"/>
                </a:solidFill>
                <a:latin typeface="Segoe UI"/>
              </a:rPr>
              <a:t>pass</a:t>
            </a:r>
          </a:p>
        </p:txBody>
      </p:sp>
      <p:sp>
        <p:nvSpPr>
          <p:cNvPr id="32" name="TextBox 31"/>
          <p:cNvSpPr txBox="1"/>
          <p:nvPr/>
        </p:nvSpPr>
        <p:spPr>
          <a:xfrm>
            <a:off x="1005840" y="4581144"/>
            <a:ext cx="2103120" cy="228600"/>
          </a:xfrm>
          <a:prstGeom prst="rect">
            <a:avLst/>
          </a:prstGeom>
          <a:noFill/>
        </p:spPr>
        <p:txBody>
          <a:bodyPr wrap="square" lIns="0" rIns="0" tIns="0" bIns="0">
            <a:spAutoFit/>
          </a:bodyPr>
          <a:lstStyle/>
          <a:p>
            <a:pPr algn="l">
              <a:lnSpc>
                <a:spcPct val="115000"/>
              </a:lnSpc>
              <a:spcAft>
                <a:spcPts val="600"/>
              </a:spcAft>
            </a:pPr>
            <a:r>
              <a:rPr sz="1050" b="0">
                <a:solidFill>
                  <a:srgbClr val="FFE4AF"/>
                </a:solidFill>
                <a:latin typeface="Consolas"/>
              </a:rPr>
              <a:t>scanner-explain</a:t>
            </a:r>
          </a:p>
        </p:txBody>
      </p:sp>
      <p:sp>
        <p:nvSpPr>
          <p:cNvPr id="33" name="TextBox 32"/>
          <p:cNvSpPr txBox="1"/>
          <p:nvPr/>
        </p:nvSpPr>
        <p:spPr>
          <a:xfrm>
            <a:off x="3200400" y="4581144"/>
            <a:ext cx="6400800" cy="228600"/>
          </a:xfrm>
          <a:prstGeom prst="rect">
            <a:avLst/>
          </a:prstGeom>
          <a:noFill/>
        </p:spPr>
        <p:txBody>
          <a:bodyPr wrap="square" lIns="0" rIns="0" tIns="0" bIns="0">
            <a:spAutoFit/>
          </a:bodyPr>
          <a:lstStyle/>
          <a:p>
            <a:pPr algn="l">
              <a:lnSpc>
                <a:spcPct val="115000"/>
              </a:lnSpc>
              <a:spcAft>
                <a:spcPts val="600"/>
              </a:spcAft>
            </a:pPr>
            <a:r>
              <a:rPr sz="1050" b="0">
                <a:solidFill>
                  <a:srgbClr val="E8EAF2"/>
                </a:solidFill>
                <a:latin typeface="Consolas"/>
              </a:rPr>
              <a:t>type-level: an explainer that returns a verdict does not compile</a:t>
            </a:r>
          </a:p>
        </p:txBody>
      </p:sp>
      <p:sp>
        <p:nvSpPr>
          <p:cNvPr id="34" name="TextBox 33"/>
          <p:cNvSpPr txBox="1"/>
          <p:nvPr/>
        </p:nvSpPr>
        <p:spPr>
          <a:xfrm>
            <a:off x="9692640" y="4581144"/>
            <a:ext cx="1463040" cy="228600"/>
          </a:xfrm>
          <a:prstGeom prst="rect">
            <a:avLst/>
          </a:prstGeom>
          <a:noFill/>
        </p:spPr>
        <p:txBody>
          <a:bodyPr wrap="square" lIns="0" rIns="0" tIns="0" bIns="0">
            <a:spAutoFit/>
          </a:bodyPr>
          <a:lstStyle/>
          <a:p>
            <a:pPr algn="l">
              <a:lnSpc>
                <a:spcPct val="115000"/>
              </a:lnSpc>
              <a:spcAft>
                <a:spcPts val="600"/>
              </a:spcAft>
            </a:pPr>
            <a:r>
              <a:rPr sz="1050" b="0">
                <a:solidFill>
                  <a:srgbClr val="9AA4BF"/>
                </a:solidFill>
                <a:latin typeface="Segoe UI"/>
              </a:rPr>
              <a:t>pass</a:t>
            </a:r>
          </a:p>
        </p:txBody>
      </p:sp>
      <p:sp>
        <p:nvSpPr>
          <p:cNvPr id="35" name="TextBox 34"/>
          <p:cNvSpPr txBox="1"/>
          <p:nvPr/>
        </p:nvSpPr>
        <p:spPr>
          <a:xfrm>
            <a:off x="1005840" y="4873752"/>
            <a:ext cx="2103120" cy="228600"/>
          </a:xfrm>
          <a:prstGeom prst="rect">
            <a:avLst/>
          </a:prstGeom>
          <a:noFill/>
        </p:spPr>
        <p:txBody>
          <a:bodyPr wrap="square" lIns="0" rIns="0" tIns="0" bIns="0">
            <a:spAutoFit/>
          </a:bodyPr>
          <a:lstStyle/>
          <a:p>
            <a:pPr algn="l">
              <a:lnSpc>
                <a:spcPct val="115000"/>
              </a:lnSpc>
              <a:spcAft>
                <a:spcPts val="600"/>
              </a:spcAft>
            </a:pPr>
            <a:r>
              <a:rPr sz="1050" b="0">
                <a:solidFill>
                  <a:srgbClr val="FFE4AF"/>
                </a:solidFill>
                <a:latin typeface="Consolas"/>
              </a:rPr>
              <a:t>scan-cli</a:t>
            </a:r>
          </a:p>
        </p:txBody>
      </p:sp>
      <p:sp>
        <p:nvSpPr>
          <p:cNvPr id="36" name="TextBox 35"/>
          <p:cNvSpPr txBox="1"/>
          <p:nvPr/>
        </p:nvSpPr>
        <p:spPr>
          <a:xfrm>
            <a:off x="3200400" y="4873752"/>
            <a:ext cx="6400800" cy="228600"/>
          </a:xfrm>
          <a:prstGeom prst="rect">
            <a:avLst/>
          </a:prstGeom>
          <a:noFill/>
        </p:spPr>
        <p:txBody>
          <a:bodyPr wrap="square" lIns="0" rIns="0" tIns="0" bIns="0">
            <a:spAutoFit/>
          </a:bodyPr>
          <a:lstStyle/>
          <a:p>
            <a:pPr algn="l">
              <a:lnSpc>
                <a:spcPct val="115000"/>
              </a:lnSpc>
              <a:spcAft>
                <a:spcPts val="600"/>
              </a:spcAft>
            </a:pPr>
            <a:r>
              <a:rPr sz="1050" b="0">
                <a:solidFill>
                  <a:srgbClr val="E8EAF2"/>
                </a:solidFill>
                <a:latin typeface="Consolas"/>
              </a:rPr>
              <a:t>--json with and without the model: verdict byte-identical</a:t>
            </a:r>
          </a:p>
        </p:txBody>
      </p:sp>
      <p:sp>
        <p:nvSpPr>
          <p:cNvPr id="37" name="TextBox 36"/>
          <p:cNvSpPr txBox="1"/>
          <p:nvPr/>
        </p:nvSpPr>
        <p:spPr>
          <a:xfrm>
            <a:off x="9692640" y="4873752"/>
            <a:ext cx="1463040" cy="228600"/>
          </a:xfrm>
          <a:prstGeom prst="rect">
            <a:avLst/>
          </a:prstGeom>
          <a:noFill/>
        </p:spPr>
        <p:txBody>
          <a:bodyPr wrap="square" lIns="0" rIns="0" tIns="0" bIns="0">
            <a:spAutoFit/>
          </a:bodyPr>
          <a:lstStyle/>
          <a:p>
            <a:pPr algn="l">
              <a:lnSpc>
                <a:spcPct val="115000"/>
              </a:lnSpc>
              <a:spcAft>
                <a:spcPts val="600"/>
              </a:spcAft>
            </a:pPr>
            <a:r>
              <a:rPr sz="1050" b="0">
                <a:solidFill>
                  <a:srgbClr val="9AA4BF"/>
                </a:solidFill>
                <a:latin typeface="Segoe UI"/>
              </a:rPr>
              <a:t>pass</a:t>
            </a:r>
          </a:p>
        </p:txBody>
      </p:sp>
      <p:sp>
        <p:nvSpPr>
          <p:cNvPr id="38" name="TextBox 37"/>
          <p:cNvSpPr txBox="1"/>
          <p:nvPr/>
        </p:nvSpPr>
        <p:spPr>
          <a:xfrm>
            <a:off x="1005840" y="5166360"/>
            <a:ext cx="2103120" cy="228600"/>
          </a:xfrm>
          <a:prstGeom prst="rect">
            <a:avLst/>
          </a:prstGeom>
          <a:noFill/>
        </p:spPr>
        <p:txBody>
          <a:bodyPr wrap="square" lIns="0" rIns="0" tIns="0" bIns="0">
            <a:spAutoFit/>
          </a:bodyPr>
          <a:lstStyle/>
          <a:p>
            <a:pPr algn="l">
              <a:lnSpc>
                <a:spcPct val="115000"/>
              </a:lnSpc>
              <a:spcAft>
                <a:spcPts val="600"/>
              </a:spcAft>
            </a:pPr>
            <a:r>
              <a:rPr sz="1050" b="0">
                <a:solidFill>
                  <a:srgbClr val="FFE4AF"/>
                </a:solidFill>
                <a:latin typeface="Consolas"/>
              </a:rPr>
              <a:t>scanner-pipeline</a:t>
            </a:r>
          </a:p>
        </p:txBody>
      </p:sp>
      <p:sp>
        <p:nvSpPr>
          <p:cNvPr id="39" name="TextBox 38"/>
          <p:cNvSpPr txBox="1"/>
          <p:nvPr/>
        </p:nvSpPr>
        <p:spPr>
          <a:xfrm>
            <a:off x="3200400" y="5166360"/>
            <a:ext cx="6400800" cy="228600"/>
          </a:xfrm>
          <a:prstGeom prst="rect">
            <a:avLst/>
          </a:prstGeom>
          <a:noFill/>
        </p:spPr>
        <p:txBody>
          <a:bodyPr wrap="square" lIns="0" rIns="0" tIns="0" bIns="0">
            <a:spAutoFit/>
          </a:bodyPr>
          <a:lstStyle/>
          <a:p>
            <a:pPr algn="l">
              <a:lnSpc>
                <a:spcPct val="115000"/>
              </a:lnSpc>
              <a:spcAft>
                <a:spcPts val="600"/>
              </a:spcAft>
            </a:pPr>
            <a:r>
              <a:rPr sz="1050" b="0">
                <a:solidFill>
                  <a:srgbClr val="E8EAF2"/>
                </a:solidFill>
                <a:latin typeface="Consolas"/>
              </a:rPr>
              <a:t>verdict and effects are deep-frozen before stage 6 runs</a:t>
            </a:r>
          </a:p>
        </p:txBody>
      </p:sp>
      <p:sp>
        <p:nvSpPr>
          <p:cNvPr id="40" name="TextBox 39"/>
          <p:cNvSpPr txBox="1"/>
          <p:nvPr/>
        </p:nvSpPr>
        <p:spPr>
          <a:xfrm>
            <a:off x="9692640" y="5166360"/>
            <a:ext cx="1463040" cy="228600"/>
          </a:xfrm>
          <a:prstGeom prst="rect">
            <a:avLst/>
          </a:prstGeom>
          <a:noFill/>
        </p:spPr>
        <p:txBody>
          <a:bodyPr wrap="square" lIns="0" rIns="0" tIns="0" bIns="0">
            <a:spAutoFit/>
          </a:bodyPr>
          <a:lstStyle/>
          <a:p>
            <a:pPr algn="l">
              <a:lnSpc>
                <a:spcPct val="115000"/>
              </a:lnSpc>
              <a:spcAft>
                <a:spcPts val="600"/>
              </a:spcAft>
            </a:pPr>
            <a:r>
              <a:rPr sz="1050" b="0">
                <a:solidFill>
                  <a:srgbClr val="9AA4BF"/>
                </a:solidFill>
                <a:latin typeface="Segoe UI"/>
              </a:rPr>
              <a:t>pass</a:t>
            </a:r>
          </a:p>
        </p:txBody>
      </p:sp>
      <p:sp>
        <p:nvSpPr>
          <p:cNvPr id="41" name="TextBox 40"/>
          <p:cNvSpPr txBox="1"/>
          <p:nvPr/>
        </p:nvSpPr>
        <p:spPr>
          <a:xfrm>
            <a:off x="1005840" y="5458968"/>
            <a:ext cx="2103120" cy="228600"/>
          </a:xfrm>
          <a:prstGeom prst="rect">
            <a:avLst/>
          </a:prstGeom>
          <a:noFill/>
        </p:spPr>
        <p:txBody>
          <a:bodyPr wrap="square" lIns="0" rIns="0" tIns="0" bIns="0">
            <a:spAutoFit/>
          </a:bodyPr>
          <a:lstStyle/>
          <a:p>
            <a:pPr algn="l">
              <a:lnSpc>
                <a:spcPct val="115000"/>
              </a:lnSpc>
              <a:spcAft>
                <a:spcPts val="600"/>
              </a:spcAft>
            </a:pPr>
            <a:r>
              <a:rPr sz="1050" b="0">
                <a:solidFill>
                  <a:srgbClr val="FFE4AF"/>
                </a:solidFill>
                <a:latin typeface="Consolas"/>
              </a:rPr>
              <a:t>scanner-screen</a:t>
            </a:r>
          </a:p>
        </p:txBody>
      </p:sp>
      <p:sp>
        <p:nvSpPr>
          <p:cNvPr id="42" name="TextBox 41"/>
          <p:cNvSpPr txBox="1"/>
          <p:nvPr/>
        </p:nvSpPr>
        <p:spPr>
          <a:xfrm>
            <a:off x="3200400" y="5458968"/>
            <a:ext cx="6400800" cy="228600"/>
          </a:xfrm>
          <a:prstGeom prst="rect">
            <a:avLst/>
          </a:prstGeom>
          <a:noFill/>
        </p:spPr>
        <p:txBody>
          <a:bodyPr wrap="square" lIns="0" rIns="0" tIns="0" bIns="0">
            <a:spAutoFit/>
          </a:bodyPr>
          <a:lstStyle/>
          <a:p>
            <a:pPr algn="l">
              <a:lnSpc>
                <a:spcPct val="115000"/>
              </a:lnSpc>
              <a:spcAft>
                <a:spcPts val="600"/>
              </a:spcAft>
            </a:pPr>
            <a:r>
              <a:rPr sz="1050" b="0">
                <a:solidFill>
                  <a:srgbClr val="E8EAF2"/>
                </a:solidFill>
                <a:latin typeface="Consolas"/>
              </a:rPr>
              <a:t>registry unreachable, timeout or archived → unknown, never clean</a:t>
            </a:r>
          </a:p>
        </p:txBody>
      </p:sp>
      <p:sp>
        <p:nvSpPr>
          <p:cNvPr id="43" name="TextBox 42"/>
          <p:cNvSpPr txBox="1"/>
          <p:nvPr/>
        </p:nvSpPr>
        <p:spPr>
          <a:xfrm>
            <a:off x="9692640" y="5458968"/>
            <a:ext cx="1463040" cy="228600"/>
          </a:xfrm>
          <a:prstGeom prst="rect">
            <a:avLst/>
          </a:prstGeom>
          <a:noFill/>
        </p:spPr>
        <p:txBody>
          <a:bodyPr wrap="square" lIns="0" rIns="0" tIns="0" bIns="0">
            <a:spAutoFit/>
          </a:bodyPr>
          <a:lstStyle/>
          <a:p>
            <a:pPr algn="l">
              <a:lnSpc>
                <a:spcPct val="115000"/>
              </a:lnSpc>
              <a:spcAft>
                <a:spcPts val="600"/>
              </a:spcAft>
            </a:pPr>
            <a:r>
              <a:rPr sz="1050" b="0">
                <a:solidFill>
                  <a:srgbClr val="9AA4BF"/>
                </a:solidFill>
                <a:latin typeface="Segoe UI"/>
              </a:rPr>
              <a:t>pass</a:t>
            </a:r>
          </a:p>
        </p:txBody>
      </p:sp>
      <p:sp>
        <p:nvSpPr>
          <p:cNvPr id="44" name="TextBox 43"/>
          <p:cNvSpPr txBox="1"/>
          <p:nvPr/>
        </p:nvSpPr>
        <p:spPr>
          <a:xfrm>
            <a:off x="1005840" y="5751576"/>
            <a:ext cx="2103120" cy="228600"/>
          </a:xfrm>
          <a:prstGeom prst="rect">
            <a:avLst/>
          </a:prstGeom>
          <a:noFill/>
        </p:spPr>
        <p:txBody>
          <a:bodyPr wrap="square" lIns="0" rIns="0" tIns="0" bIns="0">
            <a:spAutoFit/>
          </a:bodyPr>
          <a:lstStyle/>
          <a:p>
            <a:pPr algn="l">
              <a:lnSpc>
                <a:spcPct val="115000"/>
              </a:lnSpc>
              <a:spcAft>
                <a:spcPts val="600"/>
              </a:spcAft>
            </a:pPr>
            <a:r>
              <a:rPr sz="1050" b="0">
                <a:solidFill>
                  <a:srgbClr val="FFE4AF"/>
                </a:solidFill>
                <a:latin typeface="Consolas"/>
              </a:rPr>
              <a:t>scanner-ingest</a:t>
            </a:r>
          </a:p>
        </p:txBody>
      </p:sp>
      <p:sp>
        <p:nvSpPr>
          <p:cNvPr id="45" name="TextBox 44"/>
          <p:cNvSpPr txBox="1"/>
          <p:nvPr/>
        </p:nvSpPr>
        <p:spPr>
          <a:xfrm>
            <a:off x="3200400" y="5751576"/>
            <a:ext cx="6400800" cy="228600"/>
          </a:xfrm>
          <a:prstGeom prst="rect">
            <a:avLst/>
          </a:prstGeom>
          <a:noFill/>
        </p:spPr>
        <p:txBody>
          <a:bodyPr wrap="square" lIns="0" rIns="0" tIns="0" bIns="0">
            <a:spAutoFit/>
          </a:bodyPr>
          <a:lstStyle/>
          <a:p>
            <a:pPr algn="l">
              <a:lnSpc>
                <a:spcPct val="115000"/>
              </a:lnSpc>
              <a:spcAft>
                <a:spcPts val="600"/>
              </a:spcAft>
            </a:pPr>
            <a:r>
              <a:rPr sz="1050" b="0">
                <a:solidFill>
                  <a:srgbClr val="E8EAF2"/>
                </a:solidFill>
                <a:latin typeface="Consolas"/>
              </a:rPr>
              <a:t>undecodable XDR, RPC down, reverted call → fail closed</a:t>
            </a:r>
          </a:p>
        </p:txBody>
      </p:sp>
      <p:sp>
        <p:nvSpPr>
          <p:cNvPr id="46" name="TextBox 45"/>
          <p:cNvSpPr txBox="1"/>
          <p:nvPr/>
        </p:nvSpPr>
        <p:spPr>
          <a:xfrm>
            <a:off x="9692640" y="5751576"/>
            <a:ext cx="1463040" cy="228600"/>
          </a:xfrm>
          <a:prstGeom prst="rect">
            <a:avLst/>
          </a:prstGeom>
          <a:noFill/>
        </p:spPr>
        <p:txBody>
          <a:bodyPr wrap="square" lIns="0" rIns="0" tIns="0" bIns="0">
            <a:spAutoFit/>
          </a:bodyPr>
          <a:lstStyle/>
          <a:p>
            <a:pPr algn="l">
              <a:lnSpc>
                <a:spcPct val="115000"/>
              </a:lnSpc>
              <a:spcAft>
                <a:spcPts val="600"/>
              </a:spcAft>
            </a:pPr>
            <a:r>
              <a:rPr sz="1050" b="0">
                <a:solidFill>
                  <a:srgbClr val="9AA4BF"/>
                </a:solidFill>
                <a:latin typeface="Segoe UI"/>
              </a:rPr>
              <a:t>pass</a:t>
            </a:r>
          </a:p>
        </p:txBody>
      </p:sp>
      <p:sp>
        <p:nvSpPr>
          <p:cNvPr id="47" name="TextBox 46"/>
          <p:cNvSpPr txBox="1"/>
          <p:nvPr/>
        </p:nvSpPr>
        <p:spPr>
          <a:xfrm>
            <a:off x="731520" y="6355080"/>
            <a:ext cx="8229600" cy="274320"/>
          </a:xfrm>
          <a:prstGeom prst="rect">
            <a:avLst/>
          </a:prstGeom>
          <a:noFill/>
        </p:spPr>
        <p:txBody>
          <a:bodyPr wrap="square" lIns="0" rIns="0" tIns="0" bIns="0">
            <a:spAutoFit/>
          </a:bodyPr>
          <a:lstStyle/>
          <a:p>
            <a:pPr algn="l">
              <a:lnSpc>
                <a:spcPct val="115000"/>
              </a:lnSpc>
              <a:spcAft>
                <a:spcPts val="600"/>
              </a:spcAft>
            </a:pPr>
            <a:r>
              <a:rPr sz="950" b="0">
                <a:solidFill>
                  <a:srgbClr val="9AA4BF"/>
                </a:solidFill>
                <a:latin typeface="Segoe UI"/>
              </a:rPr>
              <a:t>Lantern · Instawards Deliverable 2</a:t>
            </a:r>
          </a:p>
        </p:txBody>
      </p:sp>
      <p:sp>
        <p:nvSpPr>
          <p:cNvPr id="48" name="TextBox 47"/>
          <p:cNvSpPr txBox="1"/>
          <p:nvPr/>
        </p:nvSpPr>
        <p:spPr>
          <a:xfrm>
            <a:off x="10424160" y="6355080"/>
            <a:ext cx="1005840" cy="274320"/>
          </a:xfrm>
          <a:prstGeom prst="rect">
            <a:avLst/>
          </a:prstGeom>
          <a:noFill/>
        </p:spPr>
        <p:txBody>
          <a:bodyPr wrap="square" lIns="0" rIns="0" tIns="0" bIns="0">
            <a:spAutoFit/>
          </a:bodyPr>
          <a:lstStyle/>
          <a:p>
            <a:pPr algn="r">
              <a:lnSpc>
                <a:spcPct val="115000"/>
              </a:lnSpc>
              <a:spcAft>
                <a:spcPts val="600"/>
              </a:spcAft>
            </a:pPr>
            <a:r>
              <a:rPr sz="950" b="0">
                <a:solidFill>
                  <a:srgbClr val="9AA4BF"/>
                </a:solidFill>
                <a:latin typeface="Segoe UI"/>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