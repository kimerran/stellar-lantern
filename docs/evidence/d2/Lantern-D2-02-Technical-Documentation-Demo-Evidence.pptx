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60" r:id="rId17"/>
    <p:sldId id="261" r:id="rId18"/>
    <p:sldId id="262" r:id="rId1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7A2D07-A490-45FE-80A8-FB505A67B3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88B3FE-AD1F-4751-A19D-2F7F9B07CE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F0B23AC-0778-4C14-B6AB-7A1F4F5CB9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4D6B461-31D5-42BB-9F96-FAE5BE2E4A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EC1B06A-86F6-4055-A928-50FEEC56AD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1A95E4D-4076-4117-8381-6781319DAF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40CF1D0-235E-48AB-8356-74A7B6C0C2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0FFFBC6-53E1-4235-B7DF-546582F34F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87E4CFC-E4A6-4030-854D-DFE3ACA3CA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3F17B4F-1278-4279-9222-236EC2EB39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39938CC5-468E-4453-844F-34E9AFFE2F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5ABBF8-17D7-43FA-9646-F40668D50E5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0060CD-0756-4DA7-8E30-4058D9825BA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F94D9B-E37C-475E-AAEF-929AE38B2EA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A5E9FE-3FE0-4C4A-AAFB-E213F60F715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98286E-E119-4C0D-87EA-F649198347D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F9D5D6-AEEF-4630-9BDA-B8DE6575F98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CC0D66-6115-4C7E-8863-303B0DBA6CD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6A5281-5D7E-43FB-9861-CF6F780A0DC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DAEB44-E6C8-44A6-AD01-65C746CA88A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C74475-202E-4557-8FB5-9BED015B4B1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1D7385-BFCA-4213-A49B-BA5FA742F02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005840" y="182880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ffc107"/>
                </a:solidFill>
                <a:latin typeface="Segoe UI"/>
              </a:rPr>
              <a:t>INSTAWARDS · WEEK 2 · EVIDENCE PACK 2 OF 2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005840" y="2286000"/>
            <a:ext cx="10058040" cy="80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4600" spc="-1" strike="noStrike">
                <a:solidFill>
                  <a:srgbClr val="e8eaf2"/>
                </a:solidFill>
                <a:latin typeface="Segoe UI"/>
              </a:rPr>
              <a:t>Lantern — Deliverable 2</a:t>
            </a:r>
            <a:endParaRPr b="0" lang="en-PH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1005840" y="3200400"/>
            <a:ext cx="10058040" cy="4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2400" spc="-1" strike="noStrike">
                <a:solidFill>
                  <a:srgbClr val="ffe4af"/>
                </a:solidFill>
                <a:latin typeface="Segoe UI"/>
              </a:rPr>
              <a:t>Technical Documentation &amp; Demo Evidence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1005840" y="4069080"/>
            <a:ext cx="2011320" cy="316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1005840" y="4389120"/>
            <a:ext cx="1005804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4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9aa4bf"/>
                </a:solidFill>
                <a:latin typeface="Segoe UI"/>
              </a:rPr>
              <a:t>Where to verify the week independently: the MIT package and the commit it was built from, the CI runs that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4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9aa4bf"/>
                </a:solidFill>
                <a:latin typeface="Segoe UI"/>
              </a:rPr>
              <a:t>prove the suite green offline, the manual test plan, the runbook, and how every change was reviewed before it shipped.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1005840" y="5760720"/>
            <a:ext cx="1005804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e8eaf2"/>
                </a:solidFill>
                <a:latin typeface="Segoe UI"/>
              </a:rPr>
              <a:t>Reporting period: 2026-09-12 → 2026-09-18   ·   Network: Stellar Testnet   ·   Status: delivered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731520" y="6355080"/>
            <a:ext cx="82292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9aa4bf"/>
                </a:solidFill>
                <a:latin typeface="Segoe UI"/>
              </a:rPr>
              <a:t>Lantern · Instawards Deliverable 2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10424160" y="6355080"/>
            <a:ext cx="100548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9aa4bf"/>
                </a:solidFill>
                <a:latin typeface="Segoe UI"/>
              </a:rPr>
              <a:t>1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731520" y="475560"/>
            <a:ext cx="1069812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150" spc="-1" strike="noStrike">
                <a:solidFill>
                  <a:srgbClr val="ffc107"/>
                </a:solidFill>
                <a:latin typeface="Segoe UI"/>
              </a:rPr>
              <a:t>DEMO EVIDENCE · THE CODE AND THE CHAIN</a:t>
            </a:r>
            <a:endParaRPr b="0" lang="en-PH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731520" y="786240"/>
            <a:ext cx="1069812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3000" spc="-1" strike="noStrike">
                <a:solidFill>
                  <a:srgbClr val="e8eaf2"/>
                </a:solidFill>
                <a:latin typeface="Segoe UI"/>
              </a:rPr>
              <a:t>Verify it yourself — repository, commit, registry</a:t>
            </a:r>
            <a:endParaRPr b="0" lang="en-PH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ectangle 4"/>
          <p:cNvSpPr/>
          <p:nvPr/>
        </p:nvSpPr>
        <p:spPr>
          <a:xfrm>
            <a:off x="731520" y="1481400"/>
            <a:ext cx="1279800" cy="316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Rounded Rectangle 5"/>
          <p:cNvSpPr/>
          <p:nvPr/>
        </p:nvSpPr>
        <p:spPr>
          <a:xfrm>
            <a:off x="731520" y="1783080"/>
            <a:ext cx="10716480" cy="1965600"/>
          </a:xfrm>
          <a:prstGeom prst="roundRect">
            <a:avLst>
              <a:gd name="adj" fmla="val 4000"/>
            </a:avLst>
          </a:prstGeom>
          <a:solidFill>
            <a:srgbClr val="171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1005840" y="1965960"/>
            <a:ext cx="100580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950" spc="-1" strike="noStrike">
                <a:solidFill>
                  <a:srgbClr val="ffc107"/>
                </a:solidFill>
                <a:latin typeface="Segoe UI"/>
              </a:rPr>
              <a:t>THE PACKAGE — MIT, IN THE PUBLIC REPOSITORY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1005840" y="2286000"/>
            <a:ext cx="100580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1350" spc="-1" strike="noStrike">
                <a:solidFill>
                  <a:srgbClr val="ffe4af"/>
                </a:solidFill>
                <a:latin typeface="Consolas"/>
              </a:rPr>
              <a:t>github.com/kimerran/stellar-lantern · packages/lantern-scanner/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8"/>
          <p:cNvSpPr/>
          <p:nvPr/>
        </p:nvSpPr>
        <p:spPr>
          <a:xfrm>
            <a:off x="1005840" y="2651760"/>
            <a:ext cx="1005804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e8eaf2"/>
                </a:solidFill>
                <a:latin typeface="Segoe UI"/>
              </a:rPr>
              <a:t>commit 73d5b34 (develop; release PR kimerran/stellar-lantern#154)</a:t>
            </a:r>
            <a:endParaRPr b="0" lang="en-PH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9"/>
          <p:cNvSpPr/>
          <p:nvPr/>
        </p:nvSpPr>
        <p:spPr>
          <a:xfrm>
            <a:off x="1005840" y="3017520"/>
            <a:ext cx="1005804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9aa4bf"/>
                </a:solidFill>
                <a:latin typeface="Segoe UI"/>
              </a:rPr>
              <a:t>LICENSE (MIT) at the repo root and inside the package. Every capture in pack 1 was made with `npm run scan` on this commit;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9aa4bf"/>
                </a:solidFill>
                <a:latin typeface="Segoe UI"/>
              </a:rPr>
              <a:t>the raw output per slide is in the evidence folder so a reviewer can diff the slide against its source.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ounded Rectangle 10"/>
          <p:cNvSpPr/>
          <p:nvPr/>
        </p:nvSpPr>
        <p:spPr>
          <a:xfrm>
            <a:off x="731520" y="3886200"/>
            <a:ext cx="10716480" cy="2011320"/>
          </a:xfrm>
          <a:prstGeom prst="roundRect">
            <a:avLst>
              <a:gd name="adj" fmla="val 4000"/>
            </a:avLst>
          </a:prstGeom>
          <a:solidFill>
            <a:srgbClr val="171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11"/>
          <p:cNvSpPr/>
          <p:nvPr/>
        </p:nvSpPr>
        <p:spPr>
          <a:xfrm>
            <a:off x="1005840" y="4069080"/>
            <a:ext cx="100580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950" spc="-1" strike="noStrike">
                <a:solidFill>
                  <a:srgbClr val="ffc107"/>
                </a:solidFill>
                <a:latin typeface="Segoe UI"/>
              </a:rPr>
              <a:t>THE REGISTRY IT SCREENS AGAINST — DELIVERABLE 1'S DEPLOYMENT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12"/>
          <p:cNvSpPr/>
          <p:nvPr/>
        </p:nvSpPr>
        <p:spPr>
          <a:xfrm>
            <a:off x="1005840" y="4389120"/>
            <a:ext cx="100580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1350" spc="-1" strike="noStrike">
                <a:solidFill>
                  <a:srgbClr val="ffe4af"/>
                </a:solidFill>
                <a:latin typeface="Consolas"/>
              </a:rPr>
              <a:t>CBJWD6SAQ3OGLDKMQROSWVJGW6U27AESLJIURTMFPLNC4UQH5H2G623F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13"/>
          <p:cNvSpPr/>
          <p:nvPr/>
        </p:nvSpPr>
        <p:spPr>
          <a:xfrm>
            <a:off x="1005840" y="4754880"/>
            <a:ext cx="1005804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e8eaf2"/>
                </a:solidFill>
                <a:latin typeface="Segoe UI"/>
              </a:rPr>
              <a:t>stellar.expert/explorer/testnet/contract/CBJWD6SAQ3OGLDKMQROSWVJGW6U27AESLJIURTMFPLNC4UQH5H2G623F</a:t>
            </a:r>
            <a:endParaRPr b="0" lang="en-PH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14"/>
          <p:cNvSpPr/>
          <p:nvPr/>
        </p:nvSpPr>
        <p:spPr>
          <a:xfrm>
            <a:off x="1005840" y="5120640"/>
            <a:ext cx="1005804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9aa4bf"/>
                </a:solidFill>
                <a:latin typeface="Segoe UI"/>
              </a:rPr>
              <a:t>`npm ci &amp;&amp; npm test` with networking off — 748 passed, 1 skipped, 67 files. The suite is green with no RPC, no registry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9aa4bf"/>
                </a:solidFill>
                <a:latin typeface="Segoe UI"/>
              </a:rPr>
              <a:t>and no model reachable: every network answer comes from a recorded fixture, and anything unrecorded fails closed.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15"/>
          <p:cNvSpPr/>
          <p:nvPr/>
        </p:nvSpPr>
        <p:spPr>
          <a:xfrm>
            <a:off x="731520" y="6355080"/>
            <a:ext cx="82292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9aa4bf"/>
                </a:solidFill>
                <a:latin typeface="Segoe UI"/>
              </a:rPr>
              <a:t>Lantern · Instawards Deliverable 2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16"/>
          <p:cNvSpPr/>
          <p:nvPr/>
        </p:nvSpPr>
        <p:spPr>
          <a:xfrm>
            <a:off x="10424160" y="6355080"/>
            <a:ext cx="100548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9aa4bf"/>
                </a:solidFill>
                <a:latin typeface="Segoe UI"/>
              </a:rPr>
              <a:t>2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731520" y="475560"/>
            <a:ext cx="1069812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150" spc="-1" strike="noStrike">
                <a:solidFill>
                  <a:srgbClr val="ffc107"/>
                </a:solidFill>
                <a:latin typeface="Segoe UI"/>
              </a:rPr>
              <a:t>DEMO EVIDENCE · RECORDINGS</a:t>
            </a:r>
            <a:endParaRPr b="0" lang="en-PH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731520" y="786240"/>
            <a:ext cx="1069812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3000" spc="-1" strike="noStrike">
                <a:solidFill>
                  <a:srgbClr val="e8eaf2"/>
                </a:solidFill>
                <a:latin typeface="Segoe UI"/>
              </a:rPr>
              <a:t>One walkthrough — recording pending (#61), runbook ready</a:t>
            </a:r>
            <a:endParaRPr b="0" lang="en-PH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ectangle 4"/>
          <p:cNvSpPr/>
          <p:nvPr/>
        </p:nvSpPr>
        <p:spPr>
          <a:xfrm>
            <a:off x="731520" y="1481400"/>
            <a:ext cx="1279800" cy="316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Rounded Rectangle 5"/>
          <p:cNvSpPr/>
          <p:nvPr/>
        </p:nvSpPr>
        <p:spPr>
          <a:xfrm>
            <a:off x="731520" y="1783080"/>
            <a:ext cx="5257440" cy="4297320"/>
          </a:xfrm>
          <a:prstGeom prst="roundRect">
            <a:avLst>
              <a:gd name="adj" fmla="val 4000"/>
            </a:avLst>
          </a:prstGeom>
          <a:solidFill>
            <a:srgbClr val="171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8" name="Picture 6" descr="demo.png"/>
          <p:cNvPicPr/>
          <p:nvPr/>
        </p:nvPicPr>
        <p:blipFill>
          <a:blip r:embed="rId4"/>
          <a:stretch/>
        </p:blipFill>
        <p:spPr>
          <a:xfrm>
            <a:off x="1328400" y="1965960"/>
            <a:ext cx="4063680" cy="2285640"/>
          </a:xfrm>
          <a:prstGeom prst="rect">
            <a:avLst/>
          </a:prstGeom>
          <a:ln w="0">
            <a:noFill/>
          </a:ln>
        </p:spPr>
      </p:pic>
      <p:sp>
        <p:nvSpPr>
          <p:cNvPr id="99" name="TextBox 7"/>
          <p:cNvSpPr/>
          <p:nvPr/>
        </p:nvSpPr>
        <p:spPr>
          <a:xfrm>
            <a:off x="1005840" y="4389120"/>
            <a:ext cx="4754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ffe4af"/>
                </a:solidFill>
                <a:latin typeface="Consolas"/>
              </a:rPr>
              <a:t>d2-transaction-scanner.mp4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8"/>
          <p:cNvSpPr/>
          <p:nvPr/>
        </p:nvSpPr>
        <p:spPr>
          <a:xfrm>
            <a:off x="1005840" y="4700160"/>
            <a:ext cx="47545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ffc107"/>
                </a:solidFill>
                <a:latin typeface="Segoe UI"/>
              </a:rPr>
              <a:t>90–120 s · 1920×1080 · pending (#61)</a:t>
            </a:r>
            <a:endParaRPr b="0" lang="en-PH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9"/>
          <p:cNvSpPr/>
          <p:nvPr/>
        </p:nvSpPr>
        <p:spPr>
          <a:xfrm>
            <a:off x="1005840" y="4992480"/>
            <a:ext cx="475452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9aa4bf"/>
                </a:solidFill>
                <a:latin typeface="Segoe UI"/>
              </a:rPr>
              <a:t>Five shots in one take: a payment, the unlimited approval, an unverified contract, a flagged counterparty checked on stellar.expert, and the verdict unchanged with the AI off. Published unlisted once recorded.</a:t>
            </a:r>
            <a:endParaRPr b="0" lang="en-PH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ounded Rectangle 10"/>
          <p:cNvSpPr/>
          <p:nvPr/>
        </p:nvSpPr>
        <p:spPr>
          <a:xfrm>
            <a:off x="6190560" y="1783080"/>
            <a:ext cx="5257440" cy="4297320"/>
          </a:xfrm>
          <a:prstGeom prst="roundRect">
            <a:avLst>
              <a:gd name="adj" fmla="val 4000"/>
            </a:avLst>
          </a:prstGeom>
          <a:solidFill>
            <a:srgbClr val="171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3" name="Picture 11" descr="terminal.png"/>
          <p:cNvPicPr/>
          <p:nvPr/>
        </p:nvPicPr>
        <p:blipFill>
          <a:blip r:embed="rId5"/>
          <a:stretch/>
        </p:blipFill>
        <p:spPr>
          <a:xfrm>
            <a:off x="6787440" y="1965960"/>
            <a:ext cx="4063680" cy="2285640"/>
          </a:xfrm>
          <a:prstGeom prst="rect">
            <a:avLst/>
          </a:prstGeom>
          <a:ln w="0">
            <a:noFill/>
          </a:ln>
        </p:spPr>
      </p:pic>
      <p:sp>
        <p:nvSpPr>
          <p:cNvPr id="104" name="TextBox 12"/>
          <p:cNvSpPr/>
          <p:nvPr/>
        </p:nvSpPr>
        <p:spPr>
          <a:xfrm>
            <a:off x="6464880" y="4389120"/>
            <a:ext cx="4754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ffe4af"/>
                </a:solidFill>
                <a:latin typeface="Consolas"/>
              </a:rPr>
              <a:t>docs/demo/d2-transaction-scanner.md — Plan B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13"/>
          <p:cNvSpPr/>
          <p:nvPr/>
        </p:nvSpPr>
        <p:spPr>
          <a:xfrm>
            <a:off x="6464880" y="4700160"/>
            <a:ext cx="47545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ffc107"/>
                </a:solidFill>
                <a:latin typeface="Segoe UI"/>
              </a:rPr>
              <a:t>live · five commands · read-only</a:t>
            </a:r>
            <a:endParaRPr b="0" lang="en-PH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14"/>
          <p:cNvSpPr/>
          <p:nvPr/>
        </p:nvSpPr>
        <p:spPr>
          <a:xfrm>
            <a:off x="6464880" y="4992480"/>
            <a:ext cx="475452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9aa4bf"/>
                </a:solidFill>
                <a:latin typeface="Segoe UI"/>
              </a:rPr>
              <a:t>The same five cases run live from a terminal for a reviewer on a call, with the read-aloud script and a fallback table for RPC, registry or model failures — each of which the scanner reports honestly.</a:t>
            </a:r>
            <a:endParaRPr b="0" lang="en-PH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5"/>
          <p:cNvSpPr/>
          <p:nvPr/>
        </p:nvSpPr>
        <p:spPr>
          <a:xfrm>
            <a:off x="731520" y="6355080"/>
            <a:ext cx="82292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9aa4bf"/>
                </a:solidFill>
                <a:latin typeface="Segoe UI"/>
              </a:rPr>
              <a:t>Lantern · Instawards Deliverable 2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16"/>
          <p:cNvSpPr/>
          <p:nvPr/>
        </p:nvSpPr>
        <p:spPr>
          <a:xfrm>
            <a:off x="10424160" y="6355080"/>
            <a:ext cx="100548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9aa4bf"/>
                </a:solidFill>
                <a:latin typeface="Segoe UI"/>
              </a:rPr>
              <a:t>3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731520" y="475560"/>
            <a:ext cx="1069812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150" spc="-1" strike="noStrike">
                <a:solidFill>
                  <a:srgbClr val="ffc107"/>
                </a:solidFill>
                <a:latin typeface="Segoe UI"/>
              </a:rPr>
              <a:t>TECHNICAL DOCUMENTATION</a:t>
            </a:r>
            <a:endParaRPr b="0" lang="en-PH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731520" y="786240"/>
            <a:ext cx="1069812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3000" spc="-1" strike="noStrike">
                <a:solidFill>
                  <a:srgbClr val="e8eaf2"/>
                </a:solidFill>
                <a:latin typeface="Segoe UI"/>
              </a:rPr>
              <a:t>What specifies the scanner, and where it lives</a:t>
            </a:r>
            <a:endParaRPr b="0" lang="en-PH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 4"/>
          <p:cNvSpPr/>
          <p:nvPr/>
        </p:nvSpPr>
        <p:spPr>
          <a:xfrm>
            <a:off x="731520" y="1481400"/>
            <a:ext cx="1279800" cy="316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Rounded Rectangle 5"/>
          <p:cNvSpPr/>
          <p:nvPr/>
        </p:nvSpPr>
        <p:spPr>
          <a:xfrm>
            <a:off x="731520" y="1828800"/>
            <a:ext cx="5257440" cy="1965600"/>
          </a:xfrm>
          <a:prstGeom prst="roundRect">
            <a:avLst>
              <a:gd name="adj" fmla="val 4000"/>
            </a:avLst>
          </a:prstGeom>
          <a:solidFill>
            <a:srgbClr val="171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6"/>
          <p:cNvSpPr/>
          <p:nvPr/>
        </p:nvSpPr>
        <p:spPr>
          <a:xfrm>
            <a:off x="1005840" y="203004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fe4af"/>
                </a:solidFill>
                <a:latin typeface="Consolas"/>
              </a:rPr>
              <a:t>packages/lantern-scanner/README.md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7"/>
          <p:cNvSpPr/>
          <p:nvPr/>
        </p:nvSpPr>
        <p:spPr>
          <a:xfrm>
            <a:off x="1005840" y="2331720"/>
            <a:ext cx="47545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ffc107"/>
                </a:solidFill>
                <a:latin typeface="Segoe UI"/>
              </a:rPr>
              <a:t>The reference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8"/>
          <p:cNvSpPr/>
          <p:nvPr/>
        </p:nvSpPr>
        <p:spPr>
          <a:xfrm>
            <a:off x="1005840" y="2651760"/>
            <a:ext cx="475452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9aa4bf"/>
                </a:solidFill>
                <a:latin typeface="Segoe UI"/>
              </a:rPr>
              <a:t>The six stages, the ScanResult shape, what is covered and what is not, the fixture corpus, the explainer contract and the recorded model (claude-haiku-4-5-20251001), and how to run it by hand.</a:t>
            </a:r>
            <a:endParaRPr b="0" lang="en-PH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ounded Rectangle 9"/>
          <p:cNvSpPr/>
          <p:nvPr/>
        </p:nvSpPr>
        <p:spPr>
          <a:xfrm>
            <a:off x="6190560" y="1828800"/>
            <a:ext cx="5257440" cy="1965600"/>
          </a:xfrm>
          <a:prstGeom prst="roundRect">
            <a:avLst>
              <a:gd name="adj" fmla="val 4000"/>
            </a:avLst>
          </a:prstGeom>
          <a:solidFill>
            <a:srgbClr val="171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10"/>
          <p:cNvSpPr/>
          <p:nvPr/>
        </p:nvSpPr>
        <p:spPr>
          <a:xfrm>
            <a:off x="6464880" y="203004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fe4af"/>
                </a:solidFill>
                <a:latin typeface="Consolas"/>
              </a:rPr>
              <a:t>docs/qa/d2-transaction-scanner-test-plan.md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11"/>
          <p:cNvSpPr/>
          <p:nvPr/>
        </p:nvSpPr>
        <p:spPr>
          <a:xfrm>
            <a:off x="6464880" y="2331720"/>
            <a:ext cx="47545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ffc107"/>
                </a:solidFill>
                <a:latin typeface="Segoe UI"/>
              </a:rPr>
              <a:t>The manual test plan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12"/>
          <p:cNvSpPr/>
          <p:nvPr/>
        </p:nvSpPr>
        <p:spPr>
          <a:xfrm>
            <a:off x="6464880" y="2651760"/>
            <a:ext cx="475452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9aa4bf"/>
                </a:solidFill>
                <a:latin typeface="Segoe UI"/>
              </a:rPr>
              <a:t>Ten sections a tester with no code background can follow: setup, smoke, payments, token calls, unverified contracts, registry screening, failing closed, the AI invariant, and a results table for sign-off.</a:t>
            </a:r>
            <a:endParaRPr b="0" lang="en-PH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ounded Rectangle 13"/>
          <p:cNvSpPr/>
          <p:nvPr/>
        </p:nvSpPr>
        <p:spPr>
          <a:xfrm>
            <a:off x="731520" y="3977640"/>
            <a:ext cx="5257440" cy="1965600"/>
          </a:xfrm>
          <a:prstGeom prst="roundRect">
            <a:avLst>
              <a:gd name="adj" fmla="val 4000"/>
            </a:avLst>
          </a:prstGeom>
          <a:solidFill>
            <a:srgbClr val="171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14"/>
          <p:cNvSpPr/>
          <p:nvPr/>
        </p:nvSpPr>
        <p:spPr>
          <a:xfrm>
            <a:off x="1005840" y="417888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fe4af"/>
                </a:solidFill>
                <a:latin typeface="Consolas"/>
              </a:rPr>
              <a:t>docs/features.md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15"/>
          <p:cNvSpPr/>
          <p:nvPr/>
        </p:nvSpPr>
        <p:spPr>
          <a:xfrm>
            <a:off x="1005840" y="4480560"/>
            <a:ext cx="47545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ffc107"/>
                </a:solidFill>
                <a:latin typeface="Segoe UI"/>
              </a:rPr>
              <a:t>Dated delivery log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16"/>
          <p:cNvSpPr/>
          <p:nvPr/>
        </p:nvSpPr>
        <p:spPr>
          <a:xfrm>
            <a:off x="1005840" y="4800600"/>
            <a:ext cx="475452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9aa4bf"/>
                </a:solidFill>
                <a:latin typeface="Segoe UI"/>
              </a:rPr>
              <a:t>One entry per shipped slice, each naming the PR, the issue it closes and the decisions behind it — the written record of how the week was built.</a:t>
            </a:r>
            <a:endParaRPr b="0" lang="en-PH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ounded Rectangle 17"/>
          <p:cNvSpPr/>
          <p:nvPr/>
        </p:nvSpPr>
        <p:spPr>
          <a:xfrm>
            <a:off x="6190560" y="3977640"/>
            <a:ext cx="5257440" cy="1965600"/>
          </a:xfrm>
          <a:prstGeom prst="roundRect">
            <a:avLst>
              <a:gd name="adj" fmla="val 4000"/>
            </a:avLst>
          </a:prstGeom>
          <a:solidFill>
            <a:srgbClr val="171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18"/>
          <p:cNvSpPr/>
          <p:nvPr/>
        </p:nvSpPr>
        <p:spPr>
          <a:xfrm>
            <a:off x="6464880" y="417888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fe4af"/>
                </a:solidFill>
                <a:latin typeface="Consolas"/>
              </a:rPr>
              <a:t>services/lantern-api/README.md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19"/>
          <p:cNvSpPr/>
          <p:nvPr/>
        </p:nvSpPr>
        <p:spPr>
          <a:xfrm>
            <a:off x="6464880" y="4480560"/>
            <a:ext cx="47545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ffc107"/>
                </a:solidFill>
                <a:latin typeface="Segoe UI"/>
              </a:rPr>
              <a:t>The proxy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20"/>
          <p:cNvSpPr/>
          <p:nvPr/>
        </p:nvSpPr>
        <p:spPr>
          <a:xfrm>
            <a:off x="6464880" y="4800600"/>
            <a:ext cx="475452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9aa4bf"/>
                </a:solidFill>
                <a:latin typeface="Segoe UI"/>
              </a:rPr>
              <a:t>POST /v1/explain — the one route that lets a client show the AI sentence without holding a key: rate limits, daily cap, the error table, the threat model, and the deploy steps.</a:t>
            </a:r>
            <a:endParaRPr b="0" lang="en-PH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21"/>
          <p:cNvSpPr/>
          <p:nvPr/>
        </p:nvSpPr>
        <p:spPr>
          <a:xfrm>
            <a:off x="731520" y="6355080"/>
            <a:ext cx="82292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9aa4bf"/>
                </a:solidFill>
                <a:latin typeface="Segoe UI"/>
              </a:rPr>
              <a:t>Lantern · Instawards Deliverable 2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22"/>
          <p:cNvSpPr/>
          <p:nvPr/>
        </p:nvSpPr>
        <p:spPr>
          <a:xfrm>
            <a:off x="10424160" y="6355080"/>
            <a:ext cx="100548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9aa4bf"/>
                </a:solidFill>
                <a:latin typeface="Segoe UI"/>
              </a:rPr>
              <a:t>4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731520" y="475560"/>
            <a:ext cx="1069812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150" spc="-1" strike="noStrike">
                <a:solidFill>
                  <a:srgbClr val="ffc107"/>
                </a:solidFill>
                <a:latin typeface="Segoe UI"/>
              </a:rPr>
              <a:t>ENGINEERING EVIDENCE</a:t>
            </a:r>
            <a:endParaRPr b="0" lang="en-PH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3"/>
          <p:cNvSpPr/>
          <p:nvPr/>
        </p:nvSpPr>
        <p:spPr>
          <a:xfrm>
            <a:off x="731520" y="786240"/>
            <a:ext cx="1069812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3000" spc="-1" strike="noStrike">
                <a:solidFill>
                  <a:srgbClr val="e8eaf2"/>
                </a:solidFill>
                <a:latin typeface="Segoe UI"/>
              </a:rPr>
              <a:t>How the work was verified before it shipped</a:t>
            </a:r>
            <a:endParaRPr b="0" lang="en-PH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 4"/>
          <p:cNvSpPr/>
          <p:nvPr/>
        </p:nvSpPr>
        <p:spPr>
          <a:xfrm>
            <a:off x="731520" y="1481400"/>
            <a:ext cx="1279800" cy="316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Rounded Rectangle 5"/>
          <p:cNvSpPr/>
          <p:nvPr/>
        </p:nvSpPr>
        <p:spPr>
          <a:xfrm>
            <a:off x="731520" y="1828800"/>
            <a:ext cx="10716480" cy="1298160"/>
          </a:xfrm>
          <a:prstGeom prst="roundRect">
            <a:avLst>
              <a:gd name="adj" fmla="val 4000"/>
            </a:avLst>
          </a:prstGeom>
          <a:solidFill>
            <a:srgbClr val="171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6"/>
          <p:cNvSpPr/>
          <p:nvPr/>
        </p:nvSpPr>
        <p:spPr>
          <a:xfrm>
            <a:off x="1005840" y="2011680"/>
            <a:ext cx="45716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950" spc="-1" strike="noStrike">
                <a:solidFill>
                  <a:srgbClr val="ffc107"/>
                </a:solidFill>
                <a:latin typeface="Segoe UI"/>
              </a:rPr>
              <a:t>CONTINUOUS INTEGRATION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7"/>
          <p:cNvSpPr/>
          <p:nvPr/>
        </p:nvSpPr>
        <p:spPr>
          <a:xfrm>
            <a:off x="1005840" y="228600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e8eaf2"/>
                </a:solidFill>
                <a:latin typeface="Segoe UI"/>
              </a:rPr>
              <a:t>Green on every merge, offline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8"/>
          <p:cNvSpPr/>
          <p:nvPr/>
        </p:nvSpPr>
        <p:spPr>
          <a:xfrm>
            <a:off x="4206240" y="2286000"/>
            <a:ext cx="694908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9aa4bf"/>
                </a:solidFill>
                <a:latin typeface="Segoe UI"/>
              </a:rPr>
              <a:t>Two lanes on every pull request: typecheck, lint, the 748-test suite with no network, the extension build and a flag-elimination check; and the proxy's own typecheck, 42 tests, bundle and boot smoke. No CI secret exists — the suite cannot need one.</a:t>
            </a:r>
            <a:endParaRPr b="0" lang="en-PH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ounded Rectangle 9"/>
          <p:cNvSpPr/>
          <p:nvPr/>
        </p:nvSpPr>
        <p:spPr>
          <a:xfrm>
            <a:off x="731520" y="3246120"/>
            <a:ext cx="10716480" cy="1298160"/>
          </a:xfrm>
          <a:prstGeom prst="roundRect">
            <a:avLst>
              <a:gd name="adj" fmla="val 4000"/>
            </a:avLst>
          </a:prstGeom>
          <a:solidFill>
            <a:srgbClr val="171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1005840" y="3429000"/>
            <a:ext cx="45716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950" spc="-1" strike="noStrike">
                <a:solidFill>
                  <a:srgbClr val="ffc107"/>
                </a:solidFill>
                <a:latin typeface="Segoe UI"/>
              </a:rPr>
              <a:t>REVIEW GATE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11"/>
          <p:cNvSpPr/>
          <p:nvPr/>
        </p:nvSpPr>
        <p:spPr>
          <a:xfrm>
            <a:off x="1005840" y="37033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e8eaf2"/>
                </a:solidFill>
                <a:latin typeface="Segoe UI"/>
              </a:rPr>
              <a:t>No self-merges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12"/>
          <p:cNvSpPr/>
          <p:nvPr/>
        </p:nvSpPr>
        <p:spPr>
          <a:xfrm>
            <a:off x="4206240" y="3703320"/>
            <a:ext cx="694908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9aa4bf"/>
                </a:solidFill>
                <a:latin typeface="Segoe UI"/>
              </a:rPr>
              <a:t>Twelve slice PRs plus the proxy, each reviewed at the commit that merged, with findings carried as inline threads to resolution — from fail-closed ingest details to the offline registry answering clean for an unrecorded address.</a:t>
            </a:r>
            <a:endParaRPr b="0" lang="en-PH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ounded Rectangle 13"/>
          <p:cNvSpPr/>
          <p:nvPr/>
        </p:nvSpPr>
        <p:spPr>
          <a:xfrm>
            <a:off x="731520" y="4663440"/>
            <a:ext cx="10716480" cy="1298160"/>
          </a:xfrm>
          <a:prstGeom prst="roundRect">
            <a:avLst>
              <a:gd name="adj" fmla="val 4000"/>
            </a:avLst>
          </a:prstGeom>
          <a:solidFill>
            <a:srgbClr val="171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14"/>
          <p:cNvSpPr/>
          <p:nvPr/>
        </p:nvSpPr>
        <p:spPr>
          <a:xfrm>
            <a:off x="1005840" y="4846320"/>
            <a:ext cx="45716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950" spc="-1" strike="noStrike">
                <a:solidFill>
                  <a:srgbClr val="ffc107"/>
                </a:solidFill>
                <a:latin typeface="Segoe UI"/>
              </a:rPr>
              <a:t>INVARIANTS COUPLED TO CODE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15"/>
          <p:cNvSpPr/>
          <p:nvPr/>
        </p:nvSpPr>
        <p:spPr>
          <a:xfrm>
            <a:off x="1005840" y="512064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e8eaf2"/>
                </a:solidFill>
                <a:latin typeface="Segoe UI"/>
              </a:rPr>
              <a:t>The model cannot reach the verdict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16"/>
          <p:cNvSpPr/>
          <p:nvPr/>
        </p:nvSpPr>
        <p:spPr>
          <a:xfrm>
            <a:off x="4206240" y="5120640"/>
            <a:ext cx="694908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9aa4bf"/>
                </a:solidFill>
                <a:latin typeface="Segoe UI"/>
              </a:rPr>
              <a:t>The verdict is deep-frozen before the explainer runs; a type-level test refuses an explainer that returns a verdict; hostile-model and prompt-injection tests pin the behaviour; the AI flag is OFF in every release build so no key can ship.</a:t>
            </a:r>
            <a:endParaRPr b="0" lang="en-PH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17"/>
          <p:cNvSpPr/>
          <p:nvPr/>
        </p:nvSpPr>
        <p:spPr>
          <a:xfrm>
            <a:off x="731520" y="6355080"/>
            <a:ext cx="82292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9aa4bf"/>
                </a:solidFill>
                <a:latin typeface="Segoe UI"/>
              </a:rPr>
              <a:t>Lantern · Instawards Deliverable 2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18"/>
          <p:cNvSpPr/>
          <p:nvPr/>
        </p:nvSpPr>
        <p:spPr>
          <a:xfrm>
            <a:off x="10424160" y="6355080"/>
            <a:ext cx="100548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9aa4bf"/>
                </a:solidFill>
                <a:latin typeface="Segoe UI"/>
              </a:rPr>
              <a:t>5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731520" y="475560"/>
            <a:ext cx="1069812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150" spc="-1" strike="noStrike">
                <a:solidFill>
                  <a:srgbClr val="ffc107"/>
                </a:solidFill>
                <a:latin typeface="Segoe UI"/>
              </a:rPr>
              <a:t>NEXT</a:t>
            </a:r>
            <a:endParaRPr b="0" lang="en-PH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731520" y="786240"/>
            <a:ext cx="1069812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3000" spc="-1" strike="noStrike">
                <a:solidFill>
                  <a:srgbClr val="e8eaf2"/>
                </a:solidFill>
                <a:latin typeface="Segoe UI"/>
              </a:rPr>
              <a:t>Week 3 — Deliverable 3: the scanner before the Sign button</a:t>
            </a:r>
            <a:endParaRPr b="0" lang="en-PH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ectangle 4"/>
          <p:cNvSpPr/>
          <p:nvPr/>
        </p:nvSpPr>
        <p:spPr>
          <a:xfrm>
            <a:off x="731520" y="1481400"/>
            <a:ext cx="1279800" cy="316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731520" y="1828800"/>
            <a:ext cx="1069812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e8eaf2"/>
                </a:solidFill>
                <a:latin typeface="Segoe UI"/>
              </a:rPr>
              <a:t>Run the six-stage pipeline in the wallet's pre-sign review, with registry screening live and the AI sentence served by the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e8eaf2"/>
                </a:solidFill>
                <a:latin typeface="Segoe UI"/>
              </a:rPr>
              <a:t>Lantern API proxy, so the warning arrives before the signature — not after the money is gone.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ounded Rectangle 6"/>
          <p:cNvSpPr/>
          <p:nvPr/>
        </p:nvSpPr>
        <p:spPr>
          <a:xfrm>
            <a:off x="731520" y="2834640"/>
            <a:ext cx="1663920" cy="1737000"/>
          </a:xfrm>
          <a:prstGeom prst="roundRect">
            <a:avLst>
              <a:gd name="adj" fmla="val 4000"/>
            </a:avLst>
          </a:prstGeom>
          <a:solidFill>
            <a:srgbClr val="171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7"/>
          <p:cNvSpPr/>
          <p:nvPr/>
        </p:nvSpPr>
        <p:spPr>
          <a:xfrm>
            <a:off x="896040" y="2999160"/>
            <a:ext cx="137124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500" spc="-1" strike="noStrike">
                <a:solidFill>
                  <a:srgbClr val="ffc107"/>
                </a:solidFill>
                <a:latin typeface="Segoe UI"/>
              </a:rPr>
              <a:t>1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8"/>
          <p:cNvSpPr/>
          <p:nvPr/>
        </p:nvSpPr>
        <p:spPr>
          <a:xfrm>
            <a:off x="896040" y="331020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e8eaf2"/>
                </a:solidFill>
                <a:latin typeface="Segoe UI"/>
              </a:rPr>
              <a:t>Pre-sign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9"/>
          <p:cNvSpPr/>
          <p:nvPr/>
        </p:nvSpPr>
        <p:spPr>
          <a:xfrm>
            <a:off x="896040" y="3639240"/>
            <a:ext cx="141696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9aa4bf"/>
                </a:solidFill>
                <a:latin typeface="Segoe UI"/>
              </a:rPr>
              <a:t>Pipeline in the review screen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ounded Rectangle 10"/>
          <p:cNvSpPr/>
          <p:nvPr/>
        </p:nvSpPr>
        <p:spPr>
          <a:xfrm>
            <a:off x="2519280" y="2834640"/>
            <a:ext cx="1663920" cy="1737000"/>
          </a:xfrm>
          <a:prstGeom prst="roundRect">
            <a:avLst>
              <a:gd name="adj" fmla="val 4000"/>
            </a:avLst>
          </a:prstGeom>
          <a:solidFill>
            <a:srgbClr val="171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11"/>
          <p:cNvSpPr/>
          <p:nvPr/>
        </p:nvSpPr>
        <p:spPr>
          <a:xfrm>
            <a:off x="2683800" y="2999160"/>
            <a:ext cx="137124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500" spc="-1" strike="noStrike">
                <a:solidFill>
                  <a:srgbClr val="ffc107"/>
                </a:solidFill>
                <a:latin typeface="Segoe UI"/>
              </a:rPr>
              <a:t>2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12"/>
          <p:cNvSpPr/>
          <p:nvPr/>
        </p:nvSpPr>
        <p:spPr>
          <a:xfrm>
            <a:off x="2683800" y="331020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e8eaf2"/>
                </a:solidFill>
                <a:latin typeface="Segoe UI"/>
              </a:rPr>
              <a:t>Gate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13"/>
          <p:cNvSpPr/>
          <p:nvPr/>
        </p:nvSpPr>
        <p:spPr>
          <a:xfrm>
            <a:off x="2683800" y="3639240"/>
            <a:ext cx="141696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9aa4bf"/>
                </a:solidFill>
                <a:latin typeface="Segoe UI"/>
              </a:rPr>
              <a:t>block_confirm holds the Sign button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ounded Rectangle 14"/>
          <p:cNvSpPr/>
          <p:nvPr/>
        </p:nvSpPr>
        <p:spPr>
          <a:xfrm>
            <a:off x="4306680" y="2834640"/>
            <a:ext cx="1663920" cy="1737000"/>
          </a:xfrm>
          <a:prstGeom prst="roundRect">
            <a:avLst>
              <a:gd name="adj" fmla="val 4000"/>
            </a:avLst>
          </a:prstGeom>
          <a:solidFill>
            <a:srgbClr val="171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TextBox 15"/>
          <p:cNvSpPr/>
          <p:nvPr/>
        </p:nvSpPr>
        <p:spPr>
          <a:xfrm>
            <a:off x="4471560" y="2999160"/>
            <a:ext cx="137124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500" spc="-1" strike="noStrike">
                <a:solidFill>
                  <a:srgbClr val="ffc107"/>
                </a:solidFill>
                <a:latin typeface="Segoe UI"/>
              </a:rPr>
              <a:t>3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16"/>
          <p:cNvSpPr/>
          <p:nvPr/>
        </p:nvSpPr>
        <p:spPr>
          <a:xfrm>
            <a:off x="4471560" y="331020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e8eaf2"/>
                </a:solidFill>
                <a:latin typeface="Segoe UI"/>
              </a:rPr>
              <a:t>Proxy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17"/>
          <p:cNvSpPr/>
          <p:nvPr/>
        </p:nvSpPr>
        <p:spPr>
          <a:xfrm>
            <a:off x="4471560" y="3639240"/>
            <a:ext cx="141696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9aa4bf"/>
                </a:solidFill>
                <a:latin typeface="Segoe UI"/>
              </a:rPr>
              <a:t>AI sentence, no key in the client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ounded Rectangle 18"/>
          <p:cNvSpPr/>
          <p:nvPr/>
        </p:nvSpPr>
        <p:spPr>
          <a:xfrm>
            <a:off x="6094440" y="2834640"/>
            <a:ext cx="1663920" cy="1737000"/>
          </a:xfrm>
          <a:prstGeom prst="roundRect">
            <a:avLst>
              <a:gd name="adj" fmla="val 4000"/>
            </a:avLst>
          </a:prstGeom>
          <a:solidFill>
            <a:srgbClr val="171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19"/>
          <p:cNvSpPr/>
          <p:nvPr/>
        </p:nvSpPr>
        <p:spPr>
          <a:xfrm>
            <a:off x="6258960" y="2999160"/>
            <a:ext cx="137124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500" spc="-1" strike="noStrike">
                <a:solidFill>
                  <a:srgbClr val="ffc107"/>
                </a:solidFill>
                <a:latin typeface="Segoe UI"/>
              </a:rPr>
              <a:t>4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20"/>
          <p:cNvSpPr/>
          <p:nvPr/>
        </p:nvSpPr>
        <p:spPr>
          <a:xfrm>
            <a:off x="6258960" y="331020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e8eaf2"/>
                </a:solidFill>
                <a:latin typeface="Segoe UI"/>
              </a:rPr>
              <a:t>Registry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21"/>
          <p:cNvSpPr/>
          <p:nvPr/>
        </p:nvSpPr>
        <p:spPr>
          <a:xfrm>
            <a:off x="6258960" y="3639240"/>
            <a:ext cx="141696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9aa4bf"/>
                </a:solidFill>
                <a:latin typeface="Segoe UI"/>
              </a:rPr>
              <a:t>Live screening per counterparty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ounded Rectangle 22"/>
          <p:cNvSpPr/>
          <p:nvPr/>
        </p:nvSpPr>
        <p:spPr>
          <a:xfrm>
            <a:off x="7882200" y="2834640"/>
            <a:ext cx="1663920" cy="1737000"/>
          </a:xfrm>
          <a:prstGeom prst="roundRect">
            <a:avLst>
              <a:gd name="adj" fmla="val 4000"/>
            </a:avLst>
          </a:prstGeom>
          <a:solidFill>
            <a:srgbClr val="171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23"/>
          <p:cNvSpPr/>
          <p:nvPr/>
        </p:nvSpPr>
        <p:spPr>
          <a:xfrm>
            <a:off x="8046720" y="2999160"/>
            <a:ext cx="137124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500" spc="-1" strike="noStrike">
                <a:solidFill>
                  <a:srgbClr val="ffc107"/>
                </a:solidFill>
                <a:latin typeface="Segoe UI"/>
              </a:rPr>
              <a:t>5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24"/>
          <p:cNvSpPr/>
          <p:nvPr/>
        </p:nvSpPr>
        <p:spPr>
          <a:xfrm>
            <a:off x="8046720" y="331020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e8eaf2"/>
                </a:solidFill>
                <a:latin typeface="Segoe UI"/>
              </a:rPr>
              <a:t>Report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25"/>
          <p:cNvSpPr/>
          <p:nvPr/>
        </p:nvSpPr>
        <p:spPr>
          <a:xfrm>
            <a:off x="8046720" y="3639240"/>
            <a:ext cx="141696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9aa4bf"/>
                </a:solidFill>
                <a:latin typeface="Segoe UI"/>
              </a:rPr>
              <a:t>One tap to report an address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ounded Rectangle 26"/>
          <p:cNvSpPr/>
          <p:nvPr/>
        </p:nvSpPr>
        <p:spPr>
          <a:xfrm>
            <a:off x="9669960" y="2834640"/>
            <a:ext cx="1663920" cy="1737000"/>
          </a:xfrm>
          <a:prstGeom prst="roundRect">
            <a:avLst>
              <a:gd name="adj" fmla="val 4000"/>
            </a:avLst>
          </a:prstGeom>
          <a:solidFill>
            <a:srgbClr val="171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27"/>
          <p:cNvSpPr/>
          <p:nvPr/>
        </p:nvSpPr>
        <p:spPr>
          <a:xfrm>
            <a:off x="9834480" y="2999160"/>
            <a:ext cx="137124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500" spc="-1" strike="noStrike">
                <a:solidFill>
                  <a:srgbClr val="ffc107"/>
                </a:solidFill>
                <a:latin typeface="Segoe UI"/>
              </a:rPr>
              <a:t>6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28"/>
          <p:cNvSpPr/>
          <p:nvPr/>
        </p:nvSpPr>
        <p:spPr>
          <a:xfrm>
            <a:off x="9834480" y="331020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e8eaf2"/>
                </a:solidFill>
                <a:latin typeface="Segoe UI"/>
              </a:rPr>
              <a:t>Evidence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29"/>
          <p:cNvSpPr/>
          <p:nvPr/>
        </p:nvSpPr>
        <p:spPr>
          <a:xfrm>
            <a:off x="9834480" y="3639240"/>
            <a:ext cx="141696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9aa4bf"/>
                </a:solidFill>
                <a:latin typeface="Segoe UI"/>
              </a:rPr>
              <a:t>Recording + QA sign-off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ounded Rectangle 30"/>
          <p:cNvSpPr/>
          <p:nvPr/>
        </p:nvSpPr>
        <p:spPr>
          <a:xfrm>
            <a:off x="731520" y="4800600"/>
            <a:ext cx="10716480" cy="1142640"/>
          </a:xfrm>
          <a:prstGeom prst="roundRect">
            <a:avLst>
              <a:gd name="adj" fmla="val 4000"/>
            </a:avLst>
          </a:prstGeom>
          <a:solidFill>
            <a:srgbClr val="22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31"/>
          <p:cNvSpPr/>
          <p:nvPr/>
        </p:nvSpPr>
        <p:spPr>
          <a:xfrm>
            <a:off x="1005840" y="4983480"/>
            <a:ext cx="100580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1" lang="en-US" sz="950" spc="-1" strike="noStrike">
                <a:solidFill>
                  <a:srgbClr val="ffc107"/>
                </a:solidFill>
                <a:latin typeface="Segoe UI"/>
              </a:rPr>
              <a:t>PLANNED AND ON THE BOARD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32"/>
          <p:cNvSpPr/>
          <p:nvPr/>
        </p:nvSpPr>
        <p:spPr>
          <a:xfrm>
            <a:off x="1005840" y="5257800"/>
            <a:ext cx="1005804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e8eaf2"/>
                </a:solidFill>
                <a:latin typeface="Segoe UI"/>
              </a:rPr>
              <a:t>D3-1 (#84) is open and specified: the scanner pipeline, registry screening and the proxy-backed explainer in the pre-sign review. The remaining D3 slices are sequenced from it once the D2 recording (#61) lands.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33"/>
          <p:cNvSpPr/>
          <p:nvPr/>
        </p:nvSpPr>
        <p:spPr>
          <a:xfrm>
            <a:off x="731520" y="6355080"/>
            <a:ext cx="82292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9aa4bf"/>
                </a:solidFill>
                <a:latin typeface="Segoe UI"/>
              </a:rPr>
              <a:t>Lantern · Instawards Deliverable 2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34"/>
          <p:cNvSpPr/>
          <p:nvPr/>
        </p:nvSpPr>
        <p:spPr>
          <a:xfrm>
            <a:off x="10424160" y="6355080"/>
            <a:ext cx="100548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9aa4bf"/>
                </a:solidFill>
                <a:latin typeface="Segoe UI"/>
              </a:rPr>
              <a:t>6</a:t>
            </a:r>
            <a:endParaRPr b="0" lang="en-PH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en-PH</dc:language>
  <cp:lastModifiedBy/>
  <dcterms:modified xsi:type="dcterms:W3CDTF">2026-09-11T20:50:32Z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