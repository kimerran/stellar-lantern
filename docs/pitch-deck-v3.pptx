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Opener. Lantern is a security-first, non-custodial Stellar wallet — already shipped as a browser extension and Android app. This deck (v3) adds two things beyond the product: how we amplify the Stellar ecosystem, and a concrete go-to-market starting in the Philippines. One-line hook: self-custody without the two ways it destroys people — getting drained by a transaction you couldn't read, or losing your seed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failure modes that keep normal people off self-custody. (1) Blind signing: wallets show opaque XDR or a hash; a malicious setOptions can add an attacker as a signer and drain the account — this is a real Stellar attack, not hypothetical. (2) Lost seed phrase = permanent, irreversible loss. Anchor the emotional stakes here before showing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Reframe: the gap isn't Stellar's capability, it's UX. Stellar already has regulated anchors, protocol-native weighted multisig, and fast cheap USDC — the exact ingredients for safe, mainstream money. But wallets expose them raw or not at all. The $5.5B Q1'26 payments figure (source: Messari State of Stellar Q1 2026, per our research issue #66) shows the demand is real. We turn these primitives into a product normal people can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pillars, each answering one of the problems. Reads-before-you-sign kills blind signing. Guardian recovery kills the lost-seed-phrase problem using Stellar's own multisig. Cash in/out makes the wallet actually useful for real money via anchors. The unifying idea: everything goes through one security pipeline — no bypass lane, even for our own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wedge. Show the contrast: Lantern turns opaque XDR into a plain-English risk explanation with a friction gate; a typical wallet shows a hash and an Approve button. Three defensible differentiators: it's advisory (never blocks the user, avoids the 'my wallet won't let me transact' failure), it's an auditable public good (not a black-box blocklist), and there's no bypass lane. This is also our B2B product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in one line: decode → scan → explain → confirm → sign → submit. The key point for a technical audience is the bottom row — payments, guardian recovery, DeFi contract calls and anchor SEP-10 auth are all forced through the same pipeline. That's what makes the security guarantee credible and reusable as an SDK. All of this is built and unit-tested today (200+ tests, green builds).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ecosystem (and SDF) should care. Lantern isn't extractive — every pillar lifts the network: our cash-in/out drives real SEP-24 anchor volume; our plain-language Soroban scanning makes DeFi safer to adopt; our reputation registry is a public good other wallets and anchors can verify and reuse; and our recovery/anchor UX is a reference other builders copy. The bottom strip grounds this in current momentum from our research (issue #66): &gt;$200M DeFi TVL, $5.5B Q1'26 payments, MoneyGram &gt;$4.2B, and PYUSD/MGUSD/CCTP now live. Note figures are point-in-time — cite with 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De-risk the team: this is real, working software, not slides. Every item here is merged and tested. Emphasize that the hard security core (the scan pipeline, sign-only path, multisig recovery, anchor SEP-10/24) is done — so the roadmap is mostly integration and distribution, not fundamental R&amp;D.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integration story — this is what makes us a Stellar-ecosystem play, not a generic wallet. NOW: we already speak the anchor stack (SEP-1/10/24), Soroban, and have a dApp bridge. NEXT (highest ROI per research #66): SEP-7 request-to-pay for merchants/P2P, in-wallet swaps via Soroswap aggregator with native SDEX/path-payment fallback (swaps are the #1 wallet revenue line), and SEP-31/38 for remittances. LATER: passkey smart accounts (SEP-45 for anchor auth) for seedless onboarding, Circle CCTP for bridge-free cross-chain USDC, Reflector oracle feeds, and productizing our reputation API. Each links to a named SEP/protocol — see issue #66 for status and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Sequenced to earn revenue early and build the moat later. Q1: finish the anchor flow and launch the Philippines pilot; ship swaps (fastest revenue). Q2: SEP-7 payments and SEP-31/38 remittances — the core PH use case. Q3: passkey smart accounts (seedless onboarding, SDF is subsidizing this) plus start the B2B security SDK. Q4: expand anchor partners across APAC and turn the security layer into a B2B product. Revenue-generating features come first; the durable moat (passkeys + reputation SDK)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 thesis: don't boil the ocean. Win one market deeply, then expand along the same corridor logic. The Philippines is the ideal beachhead (next slide explains why). APAC is the natural expansion — same remittance-and-adoption pattern in Indonesia, Vietnam, India, etc. Global is a different motion: a B2B security/SDK and seedless-passkey play sold across the ecosystem. Concentric rings = focus first, compounding outward.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Philippines is the perfect first market. (1) One of the world's largest remittance recipients — roughly $38B/yr, ~8–9% of GDP (World Bank); money movement is the daily reality. (2) Consistently top of global crypto-adoption indices (Chainalysis), with deep P2P culture. (3) 90M+ GCash users means mobile-money behavior is already normal — we're not teaching a new habit, we're offering a safer, self-custodial one. Playbook: land a BSP-regulated anchor partner for a PHP/USDC corridor, position around 'receive and never lose it' (recovery), and grow through OFW and campus communities. Figures are directional (sources: World Bank remittance data, Chainalysis adoption index, GCash disclosures) — verify current numbers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Levels 2 and 3. APAC (Level 2) is the same corridor playbook cloned into the region's other giant remittance/adoption markets — India is the world's #1 remittance recipient, Vietnam and Indonesia rank top in adoption. We scale anchor discovery via the Stellar Anchor Directory rather than hardcoding, and lean on SDF programs. Global (Level 3) is a different, higher-margin motion: sell Lantern's security layer as an SDK and the reputation API as a public-good-plus-B2B product, make seedless passkeys the default, and use Circle CCTP to pull multichain USDC liquidity into Stellar. Level 1 funds Level 2; Level 3 is the durable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revenue lines, none of which charge users for security. Swaps are the proven #1 wallet revenue line (top wallets earn 35–40% of revenue from swap fees; Phantom made ~$17M in a month at 0.85%). Anchor interchange rides the remittance GMV from the PH corridor. Pro is a prosumer subscription. Security-as-a-Service (the reputation API + SDK) is the durable B2B business — and the Blend Feb-2026 oracle exploit shows real demand for on-chain risk tooling. See issue #66 for the monetization data and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throughline: product is built and safe; the plan is focused (PH → APAC → global) and rides Stellar's real strengths. The ask is concrete — an SDF grant, a Philippine anchor design partner to light up the first corridor, and a seed round to reach mainnet scale. End with the tagline.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914400"/>
            <a:ext cx="4937760" cy="4937760"/>
          </a:xfrm>
          <a:prstGeom prst="ellipse">
            <a:avLst/>
          </a:prstGeom>
          <a:solidFill>
            <a:srgbClr val="1C1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1737360"/>
            <a:ext cx="3291840" cy="3291840"/>
          </a:xfrm>
          <a:prstGeom prst="ellipse">
            <a:avLst/>
          </a:prstGeom>
          <a:solidFill>
            <a:srgbClr val="2A2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560320"/>
            <a:ext cx="1645920" cy="1645920"/>
          </a:xfrm>
          <a:prstGeom prst="ellipse">
            <a:avLst/>
          </a:prstGeom>
          <a:solidFill>
            <a:srgbClr val="7A5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278892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>
                <a:solidFill>
                  <a:srgbClr val="F4F6FA"/>
                </a:solidFill>
                <a:latin typeface="Segoe UI"/>
              </a:rPr>
              <a:t>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STELLAR  ·  PITCH DECK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spc="40">
                <a:solidFill>
                  <a:srgbClr val="F4F6FA"/>
                </a:solidFill>
                <a:latin typeface="Segoe UI"/>
              </a:rPr>
              <a:t>LANTERN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71800"/>
            <a:ext cx="1371600" cy="82296"/>
          </a:xfrm>
          <a:prstGeom prst="roundRect">
            <a:avLst>
              <a:gd name="adj" fmla="val 50000"/>
            </a:avLst>
          </a:prstGeom>
          <a:solidFill>
            <a:srgbClr val="F4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4F6FA"/>
                </a:solidFill>
                <a:latin typeface="Segoe UI"/>
              </a:rPr>
              <a:t>Self-custody, </a:t>
            </a:r>
            <a:r>
              <a:rPr sz="2600" b="1">
                <a:solidFill>
                  <a:srgbClr val="F4A72A"/>
                </a:solidFill>
                <a:latin typeface="Segoe UI"/>
              </a:rPr>
              <a:t>without the self-destruct.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24528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1B2"/>
                </a:solidFill>
                <a:latin typeface="Segoe UI"/>
              </a:rPr>
              <a:t>The security-first Stellar wallet — and a plan to bring safe, self-custodial money to the </a:t>
            </a:r>
            <a:r>
              <a:rPr sz="1500" b="1">
                <a:solidFill>
                  <a:srgbClr val="F4F6FA"/>
                </a:solidFill>
                <a:latin typeface="Segoe UI"/>
              </a:rPr>
              <a:t>Philippines, APAC, and the world.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0">
                <a:solidFill>
                  <a:srgbClr val="93A1B2"/>
                </a:solidFill>
                <a:latin typeface="Segoe UI"/>
              </a:rPr>
              <a:t>Non-custodial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440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0">
                <a:solidFill>
                  <a:srgbClr val="93A1B2"/>
                </a:solidFill>
                <a:latin typeface="Segoe UI"/>
              </a:rPr>
              <a:t>Browser + Android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440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0">
                <a:solidFill>
                  <a:srgbClr val="93A1B2"/>
                </a:solidFill>
                <a:latin typeface="Segoe UI"/>
              </a:rPr>
              <a:t>Built on Stellar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F4F6FA"/>
                </a:solidFill>
                <a:latin typeface="Segoe UI"/>
              </a:rPr>
              <a:t>Self-custody has two </a:t>
            </a:r>
            <a:r>
              <a:rPr sz="3300" b="1">
                <a:solidFill>
                  <a:srgbClr val="F4A72A"/>
                </a:solidFill>
                <a:latin typeface="Segoe UI"/>
              </a:rPr>
              <a:t>silent killers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310896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3A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2128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4F6FA"/>
                </a:solidFill>
                <a:latin typeface="Segoe UI"/>
              </a:rPr>
              <a:t>Blind signing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1B2"/>
                </a:solidFill>
                <a:latin typeface="Segoe UI"/>
              </a:rPr>
              <a:t>You approve a transaction you </a:t>
            </a:r>
            <a:r>
              <a:rPr sz="1300" b="1">
                <a:solidFill>
                  <a:srgbClr val="F4F6FA"/>
                </a:solidFill>
                <a:latin typeface="Segoe UI"/>
              </a:rPr>
              <a:t>can't read</a:t>
            </a:r>
            <a:r>
              <a:rPr sz="1300" b="0">
                <a:solidFill>
                  <a:srgbClr val="93A1B2"/>
                </a:solidFill>
                <a:latin typeface="Segoe UI"/>
              </a:rPr>
              <a:t>. One malicious signer change and the account is gone.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140E0E"/>
          </a:solidFill>
          <a:ln w="12700">
            <a:solidFill>
              <a:srgbClr val="40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96849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F6FA"/>
                </a:solidFill>
                <a:latin typeface="Consolas"/>
              </a:rPr>
              <a:t>SIGN?  </a:t>
            </a:r>
            <a:r>
              <a:rPr sz="1100" b="0">
                <a:solidFill>
                  <a:srgbClr val="93A1B2"/>
                </a:solidFill>
                <a:latin typeface="Consolas"/>
              </a:rPr>
              <a:t>setOptions · signer +1 · GD3X…9QF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3342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87171"/>
                </a:solidFill>
                <a:latin typeface="Segoe UI"/>
              </a:rPr>
              <a:t>✕ Attacker becomes a co-signer — funds drained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349240" cy="310896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214884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2128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4F6FA"/>
                </a:solidFill>
                <a:latin typeface="Segoe UI"/>
              </a:rPr>
              <a:t>The 12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1B2"/>
                </a:solidFill>
                <a:latin typeface="Segoe UI"/>
              </a:rPr>
              <a:t>Lose your seed phrase and funds are gone </a:t>
            </a:r>
            <a:r>
              <a:rPr sz="1300" b="1">
                <a:solidFill>
                  <a:srgbClr val="F4F6FA"/>
                </a:solidFill>
                <a:latin typeface="Segoe UI"/>
              </a:rPr>
              <a:t>forever</a:t>
            </a:r>
            <a:r>
              <a:rPr sz="1300" b="0">
                <a:solidFill>
                  <a:srgbClr val="93A1B2"/>
                </a:solidFill>
                <a:latin typeface="Segoe UI"/>
              </a:rPr>
              <a:t>. No reset, no support line, no recourse.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840480"/>
            <a:ext cx="4800600" cy="960120"/>
          </a:xfrm>
          <a:prstGeom prst="roundRect">
            <a:avLst>
              <a:gd name="adj" fmla="val 8000"/>
            </a:avLst>
          </a:prstGeom>
          <a:solidFill>
            <a:srgbClr val="0E1412"/>
          </a:solidFill>
          <a:ln w="12700">
            <a:solidFill>
              <a:srgbClr val="22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13632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34D399"/>
                </a:solidFill>
                <a:latin typeface="Segoe UI"/>
              </a:rPr>
              <a:t>~20%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0740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of all bitcoin is estimated lost forever — mostly to lost 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2A2212"/>
          </a:solidFill>
          <a:ln w="12700">
            <a:solidFill>
              <a:srgbClr val="7A5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4A72A"/>
                </a:solidFill>
                <a:latin typeface="Segoe UI"/>
              </a:rPr>
              <a:t>The result:  </a:t>
            </a:r>
            <a:r>
              <a:rPr sz="1350" b="0">
                <a:solidFill>
                  <a:srgbClr val="F4F6FA"/>
                </a:solidFill>
                <a:latin typeface="Segoe UI"/>
              </a:rPr>
              <a:t>mainstream users bounce off self-custody — or get drained trying.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F4F6FA"/>
                </a:solidFill>
                <a:latin typeface="Segoe UI"/>
              </a:rPr>
              <a:t>Stellar is built for </a:t>
            </a:r>
            <a:r>
              <a:rPr sz="3100" b="1">
                <a:solidFill>
                  <a:srgbClr val="F4A72A"/>
                </a:solidFill>
                <a:latin typeface="Segoe UI"/>
              </a:rPr>
              <a:t>real money</a:t>
            </a:r>
            <a:r>
              <a:rPr sz="3100" b="1">
                <a:solidFill>
                  <a:srgbClr val="F4F6FA"/>
                </a:solidFill>
                <a:latin typeface="Segoe UI"/>
              </a:rPr>
              <a:t> — wallets treat it like an afterthought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9000" cy="2697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57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Anchors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36976"/>
            <a:ext cx="2916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3A1B2"/>
                </a:solidFill>
                <a:latin typeface="Segoe UI"/>
              </a:rPr>
              <a:t>Regulated fiat on/off-ramps (SEP-24). Most wallets skip them — users leave for an exchange.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429000" cy="2697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81144" y="2157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1635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Native multisig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36976"/>
            <a:ext cx="2916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3A1B2"/>
                </a:solidFill>
                <a:latin typeface="Segoe UI"/>
              </a:rPr>
              <a:t>Weighted signers + thresholds in-protocol. Perfect for recovery — barely 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920240"/>
            <a:ext cx="3429000" cy="2697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4463" y="2157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81635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Payments + USDC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3236976"/>
            <a:ext cx="2916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3A1B2"/>
                </a:solidFill>
                <a:latin typeface="Segoe UI"/>
              </a:rPr>
              <a:t>Fast, near-free, stable. $5.5B in payments in Q1'26 alone (+72% YoY).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141921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3A1B2"/>
                </a:solidFill>
                <a:latin typeface="Segoe UI"/>
              </a:rPr>
              <a:t>The primitives already exist. </a:t>
            </a:r>
            <a:r>
              <a:rPr sz="1500" b="1">
                <a:solidFill>
                  <a:srgbClr val="F4F6FA"/>
                </a:solidFill>
                <a:latin typeface="Segoe UI"/>
              </a:rPr>
              <a:t>Nobody has wrapped them in a safe, human UX — that's Lantern.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Lantern: a wallet that </a:t>
            </a:r>
            <a:r>
              <a:rPr sz="3200" b="1">
                <a:solidFill>
                  <a:srgbClr val="F4A72A"/>
                </a:solidFill>
                <a:latin typeface="Segoe UI"/>
              </a:rPr>
              <a:t>protects you by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9000" cy="283464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57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Reads before you 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36976"/>
            <a:ext cx="2916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3A1B2"/>
                </a:solidFill>
                <a:latin typeface="Segoe UI"/>
              </a:rPr>
              <a:t>Every signature is decoded, scanned, and explained in plain English — with a risk gate on the dangerous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429000" cy="283464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81144" y="2157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1635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Can't lose your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36976"/>
            <a:ext cx="2916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3A1B2"/>
                </a:solidFill>
                <a:latin typeface="Segoe UI"/>
              </a:rPr>
              <a:t>Guardian social recovery via native multisig. Friends help you back in — no single seed-phrase point of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920240"/>
            <a:ext cx="3429000" cy="283464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4463" y="2157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81635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Cash in / cash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3236976"/>
            <a:ext cx="2916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3A1B2"/>
                </a:solidFill>
                <a:latin typeface="Segoe UI"/>
              </a:rPr>
              <a:t>Regulated anchors, in-wallet. Turn cash into XLM/USDC and back — no exchange detour.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2A2212"/>
          </a:solidFill>
          <a:ln w="12700">
            <a:solidFill>
              <a:srgbClr val="7A5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4A72A"/>
                </a:solidFill>
                <a:latin typeface="Segoe UI"/>
              </a:rPr>
              <a:t>Security-first — </a:t>
            </a:r>
            <a:r>
              <a:rPr sz="1400" b="0">
                <a:solidFill>
                  <a:srgbClr val="F4F6FA"/>
                </a:solidFill>
                <a:latin typeface="Segoe UI"/>
              </a:rPr>
              <a:t>one scan → confirm → sign pipeline guards payments, recovery, DeFi and anchors.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KEY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Every signature is </a:t>
            </a:r>
            <a:r>
              <a:rPr sz="3200" b="1">
                <a:solidFill>
                  <a:srgbClr val="F4A72A"/>
                </a:solidFill>
                <a:latin typeface="Segoe UI"/>
              </a:rPr>
              <a:t>read to you</a:t>
            </a:r>
            <a:r>
              <a:rPr sz="3200" b="1">
                <a:solidFill>
                  <a:srgbClr val="F4F6FA"/>
                </a:solidFill>
                <a:latin typeface="Segoe UI"/>
              </a:rPr>
              <a:t> — in plain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4937760" cy="2697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9728" cy="26974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Segoe UI"/>
              </a:rPr>
              <a:t>⚠️  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4F6FA"/>
                </a:solidFill>
                <a:latin typeface="Segoe UI"/>
              </a:rPr>
              <a:t>This </a:t>
            </a:r>
            <a:r>
              <a:rPr sz="1300" b="1">
                <a:solidFill>
                  <a:srgbClr val="F4F6FA"/>
                </a:solidFill>
                <a:latin typeface="Segoe UI"/>
              </a:rPr>
              <a:t>adds an unknown signer</a:t>
            </a:r>
            <a:r>
              <a:rPr sz="1300" b="0">
                <a:solidFill>
                  <a:srgbClr val="93A1B2"/>
                </a:solidFill>
                <a:latin typeface="Segoe UI"/>
              </a:rPr>
              <a:t> and could let them take over your account. Only continue if you started this.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94760"/>
            <a:ext cx="4297680" cy="548640"/>
          </a:xfrm>
          <a:prstGeom prst="roundRect">
            <a:avLst>
              <a:gd name="adj" fmla="val 4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0E0E"/>
                </a:solidFill>
                <a:latin typeface="Segoe UI"/>
              </a:rPr>
              <a:t>Press &amp; hold to confirm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965960"/>
            <a:ext cx="2331720" cy="2697480"/>
          </a:xfrm>
          <a:prstGeom prst="roundRect">
            <a:avLst>
              <a:gd name="adj" fmla="val 5500"/>
            </a:avLst>
          </a:prstGeom>
          <a:solidFill>
            <a:srgbClr val="141921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3A1B2"/>
                </a:solidFill>
                <a:latin typeface="Segoe UI"/>
              </a:rPr>
              <a:t>Sign?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8892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3A1B2"/>
                </a:solidFill>
                <a:latin typeface="Consolas"/>
              </a:rPr>
              <a:t>0xa3f1…92c → approve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794760"/>
            <a:ext cx="1874519" cy="530352"/>
          </a:xfrm>
          <a:prstGeom prst="roundRect">
            <a:avLst>
              <a:gd name="adj" fmla="val 40000"/>
            </a:avLst>
          </a:prstGeom>
          <a:solidFill>
            <a:srgbClr val="23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794760"/>
            <a:ext cx="187451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3A1B2"/>
                </a:solidFill>
                <a:latin typeface="Segoe UI"/>
              </a:rP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A72A"/>
                </a:solidFill>
                <a:latin typeface="Segoe UI"/>
              </a:rPr>
              <a:t>◆  </a:t>
            </a:r>
            <a:r>
              <a:rPr sz="1300" b="1">
                <a:solidFill>
                  <a:srgbClr val="F4F6FA"/>
                </a:solidFill>
                <a:latin typeface="Segoe UI"/>
              </a:rPr>
              <a:t>Advisory, never blocking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23774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On-device Tier 0/1 + opt-in cloud Tier 2. Always informs, never freezes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0779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A72A"/>
                </a:solidFill>
                <a:latin typeface="Segoe UI"/>
              </a:rPr>
              <a:t>◆  </a:t>
            </a:r>
            <a:r>
              <a:rPr sz="1300" b="1">
                <a:solidFill>
                  <a:srgbClr val="F4F6FA"/>
                </a:solidFill>
                <a:latin typeface="Segoe UI"/>
              </a:rPr>
              <a:t>Auditable public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3273552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An on-chain-anchored risk registry any Stellar wallet can verify — and reuse.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80390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4A72A"/>
                </a:solidFill>
                <a:latin typeface="Segoe UI"/>
              </a:rPr>
              <a:t>◆  </a:t>
            </a:r>
            <a:r>
              <a:rPr sz="1300" b="1">
                <a:solidFill>
                  <a:srgbClr val="F4F6FA"/>
                </a:solidFill>
                <a:latin typeface="Segoe UI"/>
              </a:rPr>
              <a:t>No bypass 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416966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Recovery, DeFi and anchor auth all pass the same gate.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One safe pipeline </a:t>
            </a:r>
            <a:r>
              <a:rPr sz="3200" b="1">
                <a:solidFill>
                  <a:srgbClr val="F4A72A"/>
                </a:solidFill>
                <a:latin typeface="Segoe UI"/>
              </a:rPr>
              <a:t>for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673352" cy="13716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673352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F6FA"/>
                </a:solidFill>
                <a:latin typeface="Segoe UI"/>
              </a:rPr>
              <a:t>Decode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1673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read the XDR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2377440"/>
            <a:ext cx="182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4A72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377440"/>
            <a:ext cx="1673352" cy="13716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41448" y="2377440"/>
            <a:ext cx="1673352" cy="82296"/>
          </a:xfrm>
          <a:prstGeom prst="rect">
            <a:avLst/>
          </a:prstGeom>
          <a:solidFill>
            <a:srgbClr val="F4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578608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F6FA"/>
                </a:solidFill>
                <a:latin typeface="Segoe UI"/>
              </a:rPr>
              <a:t>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054096"/>
            <a:ext cx="1673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Tier 0/1/2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2377440"/>
            <a:ext cx="182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4A72A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2377440"/>
            <a:ext cx="1673352" cy="13716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2377440"/>
            <a:ext cx="1673352" cy="82296"/>
          </a:xfrm>
          <a:prstGeom prst="rect">
            <a:avLst/>
          </a:prstGeom>
          <a:solidFill>
            <a:srgbClr val="F4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2578608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F6FA"/>
                </a:solidFill>
                <a:latin typeface="Segoe UI"/>
              </a:rPr>
              <a:t>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054096"/>
            <a:ext cx="1673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plain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77440"/>
            <a:ext cx="182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4A72A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44184" y="2377440"/>
            <a:ext cx="1673352" cy="13716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184" y="2377440"/>
            <a:ext cx="1673352" cy="8229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184" y="2578608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F6FA"/>
                </a:solidFill>
                <a:latin typeface="Segoe UI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184" y="3054096"/>
            <a:ext cx="1673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press &amp; 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377440"/>
            <a:ext cx="182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4A72A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5552" y="2377440"/>
            <a:ext cx="1673352" cy="13716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5552" y="2377440"/>
            <a:ext cx="1673352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2578608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F6FA"/>
                </a:solidFill>
                <a:latin typeface="Segoe UI"/>
              </a:rPr>
              <a:t>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054096"/>
            <a:ext cx="1673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or sign-only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377440"/>
            <a:ext cx="1828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4A72A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377440"/>
            <a:ext cx="1673352" cy="13716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2377440"/>
            <a:ext cx="1673352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578608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F6FA"/>
                </a:solidFill>
                <a:latin typeface="Segoe UI"/>
              </a:rPr>
              <a:t>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054096"/>
            <a:ext cx="1673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to Stellar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3A1B2"/>
                </a:solidFill>
                <a:latin typeface="Segoe UI"/>
              </a:rPr>
              <a:t>Everything routes through the same gate: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327" y="4617720"/>
            <a:ext cx="2514600" cy="658368"/>
          </a:xfrm>
          <a:prstGeom prst="roundRect">
            <a:avLst>
              <a:gd name="adj" fmla="val 16000"/>
            </a:avLst>
          </a:prstGeom>
          <a:solidFill>
            <a:srgbClr val="232B37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327" y="46177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Payments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89807" y="4617720"/>
            <a:ext cx="2514600" cy="658368"/>
          </a:xfrm>
          <a:prstGeom prst="roundRect">
            <a:avLst>
              <a:gd name="adj" fmla="val 16000"/>
            </a:avLst>
          </a:prstGeom>
          <a:solidFill>
            <a:srgbClr val="232B37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9807" y="46177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Guardian recovery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7287" y="4617720"/>
            <a:ext cx="2514600" cy="658368"/>
          </a:xfrm>
          <a:prstGeom prst="roundRect">
            <a:avLst>
              <a:gd name="adj" fmla="val 16000"/>
            </a:avLst>
          </a:prstGeom>
          <a:solidFill>
            <a:srgbClr val="232B37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7287" y="46177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DeFi · Blend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4767" y="4617720"/>
            <a:ext cx="2514600" cy="658368"/>
          </a:xfrm>
          <a:prstGeom prst="roundRect">
            <a:avLst>
              <a:gd name="adj" fmla="val 16000"/>
            </a:avLst>
          </a:prstGeom>
          <a:solidFill>
            <a:srgbClr val="232B37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84767" y="46177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7171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Anchor auth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IMPACT ON STELLAR &amp; ITS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We grow the </a:t>
            </a:r>
            <a:r>
              <a:rPr sz="3200" b="1">
                <a:solidFill>
                  <a:srgbClr val="F4A72A"/>
                </a:solidFill>
                <a:latin typeface="Segoe UI"/>
              </a:rPr>
              <a:t>whole network</a:t>
            </a:r>
            <a:r>
              <a:rPr sz="3200" b="1">
                <a:solidFill>
                  <a:srgbClr val="F4F6FA"/>
                </a:solidFill>
                <a:latin typeface="Segoe UI"/>
              </a:rPr>
              <a:t>, not just our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141732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12263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1226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70632"/>
            <a:ext cx="4837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6FA"/>
                </a:solidFill>
                <a:latin typeface="Segoe UI"/>
              </a:rPr>
              <a:t>Real anchor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91256"/>
            <a:ext cx="4837175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A safe in-app cash-in/out flow drives SEP-24 usage — on/off-ramps finally get consumer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41732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9944" y="2112263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1226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🛰️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70632"/>
            <a:ext cx="4837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6FA"/>
                </a:solidFill>
                <a:latin typeface="Segoe UI"/>
              </a:rPr>
              <a:t>Soroban, made legible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191256"/>
            <a:ext cx="4837175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First-class DeFi with contract calls a human can read — safer Soroban adoption.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47287"/>
            <a:ext cx="5349240" cy="141732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3685031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685031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43400"/>
            <a:ext cx="4837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6FA"/>
                </a:solidFill>
                <a:latin typeface="Segoe UI"/>
              </a:rPr>
              <a:t>Security public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764023"/>
            <a:ext cx="4837175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An open, on-chain-anchored risk registry any Stellar wallet or anchor can reuse.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47287"/>
            <a:ext cx="5349240" cy="141732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3685031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3685031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4F6FA"/>
                </a:solidFill>
                <a:latin typeface="Segoe UI"/>
              </a:rPr>
              <a:t>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343400"/>
            <a:ext cx="4837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6FA"/>
                </a:solidFill>
                <a:latin typeface="Segoe UI"/>
              </a:rPr>
              <a:t>Reference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764023"/>
            <a:ext cx="4837175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3A1B2"/>
                </a:solidFill>
                <a:latin typeface="Segoe UI"/>
              </a:rPr>
              <a:t>Multisig recovery + anchor flows other builders copy — raising the ecosystem's bar.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141921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7550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20">
                <a:solidFill>
                  <a:srgbClr val="93A1B2"/>
                </a:solidFill>
                <a:latin typeface="Segoe UI"/>
              </a:rPr>
              <a:t>STELLAR MOMENTUM WE PLUG INTO  (source: research #66)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6811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A72A"/>
                </a:solidFill>
                <a:latin typeface="Segoe UI"/>
              </a:rPr>
              <a:t>DeFi TVL &gt;$200M</a:t>
            </a:r>
            <a:r>
              <a:rPr sz="1250" b="0">
                <a:solidFill>
                  <a:srgbClr val="F4F6FA"/>
                </a:solidFill>
                <a:latin typeface="Segoe UI"/>
              </a:rPr>
              <a:t>  ·  $5.5B Q1'26 payments (+72%)</a:t>
            </a:r>
            <a:r>
              <a:rPr sz="1250" b="0">
                <a:solidFill>
                  <a:srgbClr val="F4F6FA"/>
                </a:solidFill>
                <a:latin typeface="Segoe UI"/>
              </a:rPr>
              <a:t>  ·  MoneyGram &gt;$4.2B USDC</a:t>
            </a:r>
            <a:r>
              <a:rPr sz="1250" b="0">
                <a:solidFill>
                  <a:srgbClr val="F4F6FA"/>
                </a:solidFill>
                <a:latin typeface="Segoe UI"/>
              </a:rPr>
              <a:t>  ·  PYUSD · MGUSD · CCTP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TRACTION — 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Not a mockup — </a:t>
            </a:r>
            <a:r>
              <a:rPr sz="3200" b="1">
                <a:solidFill>
                  <a:srgbClr val="F4A72A"/>
                </a:solidFill>
                <a:latin typeface="Segoe UI"/>
              </a:rPr>
              <a:t>it's shipped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49240" cy="9144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4825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F6FA"/>
                </a:solidFill>
                <a:latin typeface="Segoe UI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04825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AI security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39572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plain-language explanations for payments, signer/threshold changes &amp; DeFi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71800"/>
            <a:ext cx="5349240" cy="9144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09981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F6FA"/>
                </a:solidFill>
                <a:latin typeface="Segoe U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099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Guardian social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4728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set up · manage · co-sign · recover — end-to-end native multisig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349240" cy="9144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5137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F6FA"/>
                </a:solidFill>
                <a:latin typeface="Segoe U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15137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Anchor Cash in / Cash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49884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SEP-1/10/24: discovery → validated auth → interactive → live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20240"/>
            <a:ext cx="5349240" cy="9144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4825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F6FA"/>
                </a:solidFill>
                <a:latin typeface="Segoe U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04825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Soroban / Blend (DeFi)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39572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typed invoke-contract builder + RPC simulate, behind the same scan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71800"/>
            <a:ext cx="5349240" cy="9144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09981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F6FA"/>
                </a:solidFill>
                <a:latin typeface="Segoe U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099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Mini-app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344728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sandboxed dApp bridge: connect + scan-gated signing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023360"/>
            <a:ext cx="5349240" cy="9144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15137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F6FA"/>
                </a:solidFill>
                <a:latin typeface="Segoe U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15137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Extension + Android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49884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one codebase, MV3 + Capacitor, safe-area layout, debug-APK CI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0368"/>
            <a:ext cx="10881360" cy="548640"/>
          </a:xfrm>
          <a:prstGeom prst="roundRect">
            <a:avLst>
              <a:gd name="adj" fmla="val 14000"/>
            </a:avLst>
          </a:prstGeom>
          <a:solidFill>
            <a:srgbClr val="141921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30368"/>
            <a:ext cx="10881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60+ PRs merged</a:t>
            </a:r>
            <a:r>
              <a:rPr sz="1300" b="0">
                <a:solidFill>
                  <a:srgbClr val="93A1B2"/>
                </a:solidFill>
                <a:latin typeface="Segoe UI"/>
              </a:rPr>
              <a:t>  ·  </a:t>
            </a:r>
            <a:r>
              <a:rPr sz="1300" b="1">
                <a:solidFill>
                  <a:srgbClr val="34D399"/>
                </a:solidFill>
                <a:latin typeface="Segoe UI"/>
              </a:rPr>
              <a:t>200+ passing tests</a:t>
            </a:r>
            <a:r>
              <a:rPr sz="1300" b="0">
                <a:solidFill>
                  <a:srgbClr val="93A1B2"/>
                </a:solidFill>
                <a:latin typeface="Segoe UI"/>
              </a:rPr>
              <a:t>  ·  </a:t>
            </a:r>
            <a:r>
              <a:rPr sz="1300" b="1">
                <a:solidFill>
                  <a:srgbClr val="60A5FA"/>
                </a:solidFill>
                <a:latin typeface="Segoe UI"/>
              </a:rPr>
              <a:t>extension + Android builds 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ECOSYSTEM INTEGRATION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F4F6FA"/>
                </a:solidFill>
                <a:latin typeface="Segoe UI"/>
              </a:rPr>
              <a:t>Composable with the </a:t>
            </a:r>
            <a:r>
              <a:rPr sz="3100" b="1">
                <a:solidFill>
                  <a:srgbClr val="F4A72A"/>
                </a:solidFill>
                <a:latin typeface="Segoe UI"/>
              </a:rPr>
              <a:t>Stellar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02152" cy="3977639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02152" cy="566928"/>
          </a:xfrm>
          <a:prstGeom prst="roundRect">
            <a:avLst>
              <a:gd name="adj" fmla="val 9000"/>
            </a:avLst>
          </a:prstGeom>
          <a:solidFill>
            <a:srgbClr val="12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4D399"/>
                </a:solidFill>
                <a:latin typeface="Segoe UI"/>
              </a:rPr>
              <a:t>NOW —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Anchors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944368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SEP-1 · SEP-10 · SEP-24 cash in/out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10712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Soroban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70332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invoke builder + RPC simulate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69663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Blend (DeFi)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462272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plain-language contract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928616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Mini-app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5221224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sandboxed dApp connect + 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874519"/>
            <a:ext cx="3502152" cy="3977639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25112" y="1874519"/>
            <a:ext cx="3502152" cy="566928"/>
          </a:xfrm>
          <a:prstGeom prst="roundRect">
            <a:avLst>
              <a:gd name="adj" fmla="val 9000"/>
            </a:avLst>
          </a:prstGeom>
          <a:solidFill>
            <a:srgbClr val="221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874519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4A72A"/>
                </a:solidFill>
                <a:latin typeface="Segoe UI"/>
              </a:rPr>
              <a:t>NEXT — 0–6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2651760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SEP-7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2944368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request-to-pay + QR / deep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410712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Soroswap + SDEX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370332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in-wallet swaps · path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169663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SEP-31 / SEP-38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4462272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cross-border send + anchor quotes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4928616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A72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Anchor Directory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5221224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programmatic anchor discovery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1874519"/>
            <a:ext cx="3502152" cy="3977639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10144" y="1874519"/>
            <a:ext cx="3502152" cy="566928"/>
          </a:xfrm>
          <a:prstGeom prst="roundRect">
            <a:avLst>
              <a:gd name="adj" fmla="val 9000"/>
            </a:avLst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4" y="1874519"/>
            <a:ext cx="3502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0A5FA"/>
                </a:solidFill>
                <a:latin typeface="Segoe UI"/>
              </a:rPr>
              <a:t>LATER — 6–12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2651760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Passkeys + SEP-45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2944368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secp256r1 smart accounts (seedless)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410712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Circle CCTP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370332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cross-chain USDC, no bridge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169663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Reflector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4462272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oracle risk feeds for the 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928616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Reputation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4776" y="5221224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public good + B2B security SDK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Prioritized in our ecosystem research (issue #66): swaps → SEP-7 → passkeys → remittances.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ROADMAP · 6–12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4F6FA"/>
                </a:solidFill>
                <a:latin typeface="Segoe UI"/>
              </a:rPr>
              <a:t>Integration + distribution, </a:t>
            </a:r>
            <a:r>
              <a:rPr sz="3000" b="1">
                <a:solidFill>
                  <a:srgbClr val="F4A72A"/>
                </a:solidFill>
                <a:latin typeface="Segoe UI"/>
              </a:rPr>
              <a:t>in that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10332720" cy="45720"/>
          </a:xfrm>
          <a:prstGeom prst="rect">
            <a:avLst/>
          </a:prstGeom>
          <a:solidFill>
            <a:srgbClr val="2A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2807" y="2377440"/>
            <a:ext cx="201168" cy="201168"/>
          </a:xfrm>
          <a:prstGeom prst="ellipse">
            <a:avLst/>
          </a:prstGeom>
          <a:solidFill>
            <a:srgbClr val="F4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2478024" cy="29718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900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A72A"/>
                </a:solidFill>
                <a:latin typeface="Segoe U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211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Ramp &amp; 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770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877056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Finish anchor cash-in/out + PH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49884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In-wallet swaps (Soroswap/SDEX)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5120640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Reputation API v1 + registry</a:t>
            </a:r>
          </a:p>
        </p:txBody>
      </p:sp>
      <p:sp>
        <p:nvSpPr>
          <p:cNvPr id="16" name="Oval 15"/>
          <p:cNvSpPr/>
          <p:nvPr/>
        </p:nvSpPr>
        <p:spPr>
          <a:xfrm>
            <a:off x="4507992" y="237744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00984" y="2834640"/>
            <a:ext cx="2478024" cy="29718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29900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4D399"/>
                </a:solidFill>
                <a:latin typeface="Segoe U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419856"/>
            <a:ext cx="211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Pay &amp; remit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38770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3877056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SEP-7 request-to-pay +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44988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449884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SEP-31/38 remittance corridor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5120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5120640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Fiat-quote compare across anchors</a:t>
            </a:r>
          </a:p>
        </p:txBody>
      </p:sp>
      <p:sp>
        <p:nvSpPr>
          <p:cNvPr id="26" name="Oval 25"/>
          <p:cNvSpPr/>
          <p:nvPr/>
        </p:nvSpPr>
        <p:spPr>
          <a:xfrm>
            <a:off x="7123175" y="2377440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16168" y="2834640"/>
            <a:ext cx="2478024" cy="29718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29900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419856"/>
            <a:ext cx="211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Seedless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8770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877056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Passkey smart accounts (SEP-45)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4988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49884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Biometric unlock · CCTP USDC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20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5120640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Security SDK — early access</a:t>
            </a:r>
          </a:p>
        </p:txBody>
      </p:sp>
      <p:sp>
        <p:nvSpPr>
          <p:cNvPr id="36" name="Oval 35"/>
          <p:cNvSpPr/>
          <p:nvPr/>
        </p:nvSpPr>
        <p:spPr>
          <a:xfrm>
            <a:off x="9738360" y="2377440"/>
            <a:ext cx="201168" cy="20116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31352" y="2834640"/>
            <a:ext cx="2478024" cy="297180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29900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87171"/>
                </a:solidFill>
                <a:latin typeface="Segoe UI"/>
              </a:rPr>
              <a:t>Q4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3419856"/>
            <a:ext cx="2112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F6FA"/>
                </a:solidFill>
                <a:latin typeface="Segoe UI"/>
              </a:rP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38770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171"/>
                </a:solidFill>
                <a:latin typeface="Segoe UI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877056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APAC anchor partners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2" y="44988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171"/>
                </a:solidFill>
                <a:latin typeface="Segoe UI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49884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B2B “Powered by Lantern”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2" y="5120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171"/>
                </a:solidFill>
                <a:latin typeface="Segoe UI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120640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iOS · community risk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Start focused, </a:t>
            </a:r>
            <a:r>
              <a:rPr sz="3200" b="1">
                <a:solidFill>
                  <a:srgbClr val="F4A72A"/>
                </a:solidFill>
                <a:latin typeface="Segoe UI"/>
              </a:rPr>
              <a:t>expand outward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19" y="1828799"/>
            <a:ext cx="4297680" cy="4297680"/>
          </a:xfrm>
          <a:prstGeom prst="ellipse">
            <a:avLst/>
          </a:prstGeom>
          <a:noFill/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468879"/>
            <a:ext cx="3017520" cy="3017520"/>
          </a:xfrm>
          <a:prstGeom prst="ellipse">
            <a:avLst/>
          </a:prstGeom>
          <a:noFill/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108959"/>
            <a:ext cx="1737360" cy="1737360"/>
          </a:xfrm>
          <a:prstGeom prst="ellipse">
            <a:avLst/>
          </a:prstGeom>
          <a:solidFill>
            <a:srgbClr val="7A5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410711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F4F6FA"/>
                </a:solidFill>
                <a:latin typeface="Segoe UI"/>
              </a:rPr>
              <a:t>🇵🇭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995927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4F6FA"/>
                </a:solidFill>
                <a:latin typeface="Segoe UI"/>
              </a:rPr>
              <a:t>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603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APAC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92807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0A5FA"/>
                </a:solidFill>
                <a:latin typeface="Segoe UI"/>
              </a:rPr>
              <a:t>GLOBAL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03120"/>
            <a:ext cx="5577840" cy="1170432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49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4A72A"/>
                </a:solidFill>
                <a:latin typeface="Segoe UI"/>
              </a:rPr>
              <a:t>🇵🇭  Philippines — beachhead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33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1B2"/>
                </a:solidFill>
                <a:latin typeface="Segoe UI"/>
              </a:rPr>
              <a:t>Remittance + savings wallet for a market that already runs on OFW cash and crypto.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410711"/>
            <a:ext cx="5577840" cy="1170432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5570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4D399"/>
                </a:solidFill>
                <a:latin typeface="Segoe UI"/>
              </a:rPr>
              <a:t>APAC — 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941063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1B2"/>
                </a:solidFill>
                <a:latin typeface="Segoe UI"/>
              </a:rPr>
              <a:t>Replicate the corridor playbook across high-remittance, high-adoption neighbors.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718303"/>
            <a:ext cx="5577840" cy="1170432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864607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60A5FA"/>
                </a:solidFill>
                <a:latin typeface="Segoe UI"/>
              </a:rPr>
              <a:t>Global —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248655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3A1B2"/>
                </a:solidFill>
                <a:latin typeface="Segoe UI"/>
              </a:rPr>
              <a:t>Sell the security layer (SDK + reputation API) and seedless passkey UX to everyone.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GTM · LEVEL 1 — PHILIPPINES (BEACHHEAD)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4F6FA"/>
                </a:solidFill>
                <a:latin typeface="Segoe UI"/>
              </a:rPr>
              <a:t>Win the </a:t>
            </a:r>
            <a:r>
              <a:rPr sz="3000" b="1">
                <a:solidFill>
                  <a:srgbClr val="F4A72A"/>
                </a:solidFill>
                <a:latin typeface="Segoe UI"/>
              </a:rPr>
              <a:t>remittance corridor</a:t>
            </a:r>
            <a:r>
              <a:rPr sz="3000" b="1">
                <a:solidFill>
                  <a:srgbClr val="F4F6FA"/>
                </a:solidFill>
                <a:latin typeface="Segoe UI"/>
              </a:rPr>
              <a:t>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123444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A72A"/>
                </a:solidFill>
                <a:latin typeface="Segoe UI"/>
              </a:rPr>
              <a:t>~$38B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annual OFW remittances — among the world's top recipients (~8–9% of GDP)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429000" cy="123444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A72A"/>
                </a:solidFill>
                <a:latin typeface="Segoe UI"/>
              </a:rPr>
              <a:t>Top-tier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957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consistently ranked among the highest in global crypto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83080"/>
            <a:ext cx="3429000" cy="123444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90195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A72A"/>
                </a:solidFill>
                <a:latin typeface="Segoe UI"/>
              </a:rPr>
              <a:t>90M+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39572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e-wallet users (GCash/Maya) — mobile-money behavior already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F4A72A"/>
                </a:solidFill>
                <a:latin typeface="Segoe UI"/>
              </a:rPr>
              <a:t>PLAYBOOK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4F6FA"/>
                </a:solidFill>
                <a:latin typeface="Segoe UI"/>
              </a:rPr>
              <a:t>Partner a BSP-regulated anchor for PHP↔USDC cash in/out via SEP-24.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4F6FA"/>
                </a:solidFill>
                <a:latin typeface="Segoe UI"/>
              </a:rPr>
              <a:t>Position as the “safe way to receive &amp; save” — recovery means no lost funds.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4F6FA"/>
                </a:solidFill>
                <a:latin typeface="Segoe UI"/>
              </a:rPr>
              <a:t>Seed via OFW communities, campus ambassadors, and remittance-sender corridors (Gulf, US, HK/SG).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7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72A"/>
                </a:solidFill>
                <a:latin typeface="Segoe UI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79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4F6FA"/>
                </a:solidFill>
                <a:latin typeface="Segoe UI"/>
              </a:rPr>
              <a:t>Local-language plain-English scans build trust vs scam-heavy P2P.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200400"/>
            <a:ext cx="4754880" cy="2651760"/>
          </a:xfrm>
          <a:prstGeom prst="roundRect">
            <a:avLst>
              <a:gd name="adj" fmla="val 5500"/>
            </a:avLst>
          </a:prstGeom>
          <a:solidFill>
            <a:srgbClr val="141921"/>
          </a:solidFill>
          <a:ln w="12700">
            <a:solidFill>
              <a:srgbClr val="2A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3649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60">
                <a:solidFill>
                  <a:srgbClr val="34D399"/>
                </a:solidFill>
                <a:latin typeface="Segoe UI"/>
              </a:rPr>
              <a:t>12-MONTH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703320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1 anchor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995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live PHP/USDC cash-in/out corridor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270248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50–100k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5628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installs via OFW + campus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837176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Remittance GMV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1297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measurable on/off-ramp volume → interchange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404104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Trust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6967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93A1B2"/>
                </a:solidFill>
                <a:latin typeface="Segoe UI"/>
              </a:rPr>
              <a:t>zero-loss recovery stories as social 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GTM · LEVELS 2 &amp; 3 — APAC →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4F6FA"/>
                </a:solidFill>
                <a:latin typeface="Segoe UI"/>
              </a:rPr>
              <a:t>Replicate the corridor, then </a:t>
            </a:r>
            <a:r>
              <a:rPr sz="2900" b="1">
                <a:solidFill>
                  <a:srgbClr val="F4A72A"/>
                </a:solidFill>
                <a:latin typeface="Segoe UI"/>
              </a:rPr>
              <a:t>sell the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548640"/>
          </a:xfrm>
          <a:prstGeom prst="roundRect">
            <a:avLst>
              <a:gd name="adj" fmla="val 9000"/>
            </a:avLst>
          </a:prstGeom>
          <a:solidFill>
            <a:srgbClr val="12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LEVEL 2 · APAC — expand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Same playbook, new corridors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0720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Indonesia, Vietnam, India, Pakistan, Bangladesh — high remittance + adoption.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00984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Regional anchor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93591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Discover &amp; vet local ramps via the Stellar Anchor Directory (SEP-1).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Cross-border 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379976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SEP-31/38 + path payments for intra-APAC and Gulf→APAC transfers.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873752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SDF co-marketing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51663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Ride Stellar Foundation programs, grants, and ecosystem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349240" cy="548640"/>
          </a:xfrm>
          <a:prstGeom prst="roundRect">
            <a:avLst>
              <a:gd name="adj" fmla="val 9000"/>
            </a:avLst>
          </a:prstGeom>
          <a:solidFill>
            <a:srgbClr val="11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4937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LEVEL 3 · GLOBAL —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51460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Security-as-a-Service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80720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License the scan + recovery SDK to other wallets, anchors &amp; fintechs.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300984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Reputation API (public good)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593591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Open, on-chain-anchored risk data — a shared moat + B2B revenue.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08736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Seedless passkey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379976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secp256r1 smart accounts as the mainstream onboarding standard.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873752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A5FA"/>
                </a:solidFill>
                <a:latin typeface="Segoe UI"/>
              </a:rPr>
              <a:t>● </a:t>
            </a:r>
            <a:r>
              <a:rPr sz="1250" b="1">
                <a:solidFill>
                  <a:srgbClr val="F4F6FA"/>
                </a:solidFill>
                <a:latin typeface="Segoe UI"/>
              </a:rPr>
              <a:t>Cross-chain USDC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51663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Circle CCTP makes Lantern a bridge-free gateway into Stellar.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4F6FA"/>
                </a:solidFill>
                <a:latin typeface="Segoe UI"/>
              </a:rPr>
              <a:t>Free wallet. Revenue from </a:t>
            </a:r>
            <a:r>
              <a:rPr sz="3200" b="1">
                <a:solidFill>
                  <a:srgbClr val="F4A72A"/>
                </a:solidFill>
                <a:latin typeface="Segoe UI"/>
              </a:rPr>
              <a:t>rails &amp;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49240" cy="1554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9728" cy="1554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1671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6FA"/>
                </a:solidFill>
                <a:latin typeface="Segoe UI"/>
              </a:rPr>
              <a:t>Consumer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5117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6207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93A1B2"/>
                </a:solidFill>
                <a:latin typeface="Segoe UI"/>
              </a:rPr>
              <a:t>Self-custody, scans, recovery. Safety is never paywalled.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221991"/>
            <a:ext cx="1005840" cy="402336"/>
          </a:xfrm>
          <a:prstGeom prst="roundRect">
            <a:avLst>
              <a:gd name="adj" fmla="val 30000"/>
            </a:avLst>
          </a:prstGeom>
          <a:solidFill>
            <a:srgbClr val="1419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21991"/>
            <a:ext cx="1005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349240" cy="1554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109728" cy="1554480"/>
          </a:xfrm>
          <a:prstGeom prst="rect">
            <a:avLst/>
          </a:prstGeom>
          <a:solidFill>
            <a:srgbClr val="F4A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671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6FA"/>
                </a:solidFill>
                <a:latin typeface="Segoe UI"/>
              </a:rPr>
              <a:t>Swaps &amp; interchange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5117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A72A"/>
                </a:solidFill>
                <a:latin typeface="Segoe UI"/>
              </a:rPr>
              <a:t>Per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6207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93A1B2"/>
                </a:solidFill>
                <a:latin typeface="Segoe UI"/>
              </a:rPr>
              <a:t>Swap-fee/referral (Soroswap feeBps) + anchor cash-in/out interchange.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2221991"/>
            <a:ext cx="1005840" cy="402336"/>
          </a:xfrm>
          <a:prstGeom prst="roundRect">
            <a:avLst>
              <a:gd name="adj" fmla="val 30000"/>
            </a:avLst>
          </a:prstGeom>
          <a:solidFill>
            <a:srgbClr val="141921"/>
          </a:solidFill>
          <a:ln w="12700">
            <a:solidFill>
              <a:srgbClr val="F4A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221991"/>
            <a:ext cx="1005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4A72A"/>
                </a:solidFill>
                <a:latin typeface="Segoe UI"/>
              </a:rPr>
              <a:t>bps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5349240" cy="1554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109728" cy="15544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3904487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6FA"/>
                </a:solidFill>
                <a:latin typeface="Segoe UI"/>
              </a:rPr>
              <a:t>Lantern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428853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0A5FA"/>
                </a:solidFill>
                <a:latin typeface="Segoe UI"/>
              </a:rPr>
              <a:t>Subscription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4599431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93A1B2"/>
                </a:solidFill>
                <a:latin typeface="Segoe UI"/>
              </a:rPr>
              <a:t>Deeper Tier-2 scans, monitoring &amp; alerts, priority guardian tooling.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3959352"/>
            <a:ext cx="1005840" cy="402336"/>
          </a:xfrm>
          <a:prstGeom prst="roundRect">
            <a:avLst>
              <a:gd name="adj" fmla="val 30000"/>
            </a:avLst>
          </a:prstGeom>
          <a:solidFill>
            <a:srgbClr val="141921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959352"/>
            <a:ext cx="1005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0A5FA"/>
                </a:solidFill>
                <a:latin typeface="Segoe UI"/>
              </a:rPr>
              <a:t>$/mo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03320"/>
            <a:ext cx="5349240" cy="1554480"/>
          </a:xfrm>
          <a:prstGeom prst="roundRect">
            <a:avLst>
              <a:gd name="adj" fmla="val 5500"/>
            </a:avLst>
          </a:prstGeom>
          <a:solidFill>
            <a:srgbClr val="1B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03320"/>
            <a:ext cx="109728" cy="15544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04487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4F6FA"/>
                </a:solidFill>
                <a:latin typeface="Segoe UI"/>
              </a:rPr>
              <a:t>Security-as-a-Service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8853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87171"/>
                </a:solidFill>
                <a:latin typeface="Segoe UI"/>
              </a:rPr>
              <a:t>B2B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99431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93A1B2"/>
                </a:solidFill>
                <a:latin typeface="Segoe UI"/>
              </a:rPr>
              <a:t>Reputation API + scan/recovery SDK for wallets, anchors, fintechs.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32720" y="3959352"/>
            <a:ext cx="1005840" cy="402336"/>
          </a:xfrm>
          <a:prstGeom prst="roundRect">
            <a:avLst>
              <a:gd name="adj" fmla="val 30000"/>
            </a:avLst>
          </a:prstGeom>
          <a:solidFill>
            <a:srgbClr val="141921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3959352"/>
            <a:ext cx="1005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87171"/>
                </a:solidFill>
                <a:latin typeface="Segoe UI"/>
              </a:rPr>
              <a:t>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93A1B2"/>
                </a:solidFill>
                <a:latin typeface="Segoe UI"/>
              </a:rPr>
              <a:t>Consumer never pays for safety — we monetize volume (swaps + interchange) and B2B trust infrastructure.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4A72A"/>
                </a:solidFill>
                <a:latin typeface="Segoe UI"/>
              </a:rPr>
              <a:t>🏮 </a:t>
            </a:r>
            <a:r>
              <a:rPr sz="1050" b="1" spc="140">
                <a:solidFill>
                  <a:srgbClr val="93A1B2"/>
                </a:solidFill>
                <a:latin typeface="Segoe UI"/>
              </a:rPr>
              <a:t>LANTERN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28232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93A1B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3840480"/>
            <a:ext cx="5943600" cy="5943600"/>
          </a:xfrm>
          <a:prstGeom prst="ellipse">
            <a:avLst/>
          </a:prstGeom>
          <a:solidFill>
            <a:srgbClr val="16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4114800" cy="4114800"/>
          </a:xfrm>
          <a:prstGeom prst="ellipse">
            <a:avLst/>
          </a:prstGeom>
          <a:solidFill>
            <a:srgbClr val="241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72A"/>
                </a:solidFill>
                <a:latin typeface="Segoe UI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4F6FA"/>
                </a:solidFill>
                <a:latin typeface="Segoe UI"/>
              </a:rPr>
              <a:t>Make self-custody 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4F6FA"/>
                </a:solidFill>
                <a:latin typeface="Segoe UI"/>
              </a:rPr>
              <a:t>safe enough for </a:t>
            </a:r>
            <a:r>
              <a:rPr sz="4400" b="1">
                <a:solidFill>
                  <a:srgbClr val="F4A72A"/>
                </a:solidFill>
                <a:latin typeface="Segoe UI"/>
              </a:rPr>
              <a:t>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1B2"/>
                </a:solidFill>
                <a:latin typeface="Segoe UI"/>
              </a:rPr>
              <a:t>Start in the Philippines. Expand across APAC. Sell the safety layer to the world — </a:t>
            </a:r>
            <a:r>
              <a:rPr sz="1500" b="1">
                <a:solidFill>
                  <a:srgbClr val="F4F6FA"/>
                </a:solidFill>
                <a:latin typeface="Segoe UI"/>
              </a:rPr>
              <a:t>with Stellar's native rails underneath.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10515600" cy="960120"/>
          </a:xfrm>
          <a:prstGeom prst="roundRect">
            <a:avLst>
              <a:gd name="adj" fmla="val 10000"/>
            </a:avLst>
          </a:prstGeom>
          <a:solidFill>
            <a:srgbClr val="2A2212"/>
          </a:solidFill>
          <a:ln w="12700">
            <a:solidFill>
              <a:srgbClr val="7A5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731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F4A72A"/>
                </a:solidFill>
                <a:latin typeface="Segoe UI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840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A"/>
                </a:solidFill>
                <a:latin typeface="Segoe UI"/>
              </a:rPr>
              <a:t>SDF grant  ·  Philippine anchor design partner  ·  seed round to reach mainnet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A72A"/>
                </a:solidFill>
                <a:latin typeface="Segoe UI"/>
              </a:rPr>
              <a:t>🏮  </a:t>
            </a:r>
            <a:r>
              <a:rPr sz="1200" b="1" spc="180">
                <a:solidFill>
                  <a:srgbClr val="93A1B2"/>
                </a:solidFill>
                <a:latin typeface="Segoe UI"/>
              </a:rPr>
              <a:t>LANTERN</a:t>
            </a:r>
            <a:r>
              <a:rPr sz="1200" b="0">
                <a:solidFill>
                  <a:srgbClr val="93A1B2"/>
                </a:solidFill>
                <a:latin typeface="Segoe UI"/>
              </a:rPr>
              <a:t>   —   self-custody, without the self-destruct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